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89" d="100"/>
          <a:sy n="89" d="100"/>
        </p:scale>
        <p:origin x="416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886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7196" y="2148840"/>
            <a:ext cx="274320" cy="274320"/>
          </a:xfrm>
          <a:prstGeom prst="ellipse">
            <a:avLst/>
          </a:prstGeom>
          <a:solidFill>
            <a:srgbClr val="1F6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62956" y="2148840"/>
            <a:ext cx="274320" cy="274320"/>
          </a:xfrm>
          <a:prstGeom prst="ellipse">
            <a:avLst/>
          </a:prstGeom>
          <a:solidFill>
            <a:srgbClr val="7C4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28716" y="2148840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4476" y="2148840"/>
            <a:ext cx="274320" cy="274320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</a:t>
            </a:r>
            <a:r>
              <a:rPr lang="en-US" altLang="ko-KR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Admission Prediction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520440"/>
            <a:ext cx="9994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a graduate applicant's admission likelihood — and which neural-network architecture classifies best?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applicants</a:t>
            </a: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MLP architectures compared</a:t>
            </a: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MLP_deep_8_4 deployed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6355080"/>
            <a:ext cx="9994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 · matplotlib · seaborn ·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137160" cy="137160"/>
          </a:xfrm>
          <a:prstGeom prst="ellipse">
            <a:avLst/>
          </a:prstGeom>
          <a:solidFill>
            <a:srgbClr val="1F6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55096" y="384048"/>
            <a:ext cx="137160" cy="137160"/>
          </a:xfrm>
          <a:prstGeom prst="ellipse">
            <a:avLst/>
          </a:prstGeom>
          <a:solidFill>
            <a:srgbClr val="7C4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74552" y="384048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94008" y="384048"/>
            <a:ext cx="137160" cy="137160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AF4FB"/>
          </a:solidFill>
          <a:ln w="12700">
            <a:solidFill>
              <a:srgbClr val="8EC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356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70432" y="1435608"/>
            <a:ext cx="4425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needs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4882896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graduate applicant's admission outcome be predicted from GRE, TOEFL, CGPA, SOP/LOR, university rating, and research experience — well enough to flag likely-admitted applicants for review?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2344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EDFA"/>
          </a:solidFill>
          <a:ln w="12700">
            <a:solidFill>
              <a:srgbClr val="C9A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14356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85432" y="1435608"/>
            <a:ext cx="4425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8232" y="1938528"/>
            <a:ext cx="4882896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applicants, 8 fields after Serial_No dropped; no missing values; target binarized at Admit_Chance ≥ 0.8 (31% positive)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University_Rating / Research one-hot encoded → 12 model features; 80/20 stratified split; MinMaxScaler fit on train only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BF7EA"/>
          </a:solidFill>
          <a:ln w="12700">
            <a:solidFill>
              <a:srgbClr val="A8E6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405993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70432" y="4059936"/>
            <a:ext cx="4425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ML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" y="4562856"/>
            <a:ext cx="4882896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3 MLPClassifier architectures — relu(3,), tanh(3,), deep(8,4) — on the same split, selected by held-out test accuracy, 5-fold stratified CV as the stability check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MLP_deep_8_4 best: test accuracy 0.920 (train 0.935, gap +0.015)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858768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DF8E2"/>
          </a:solidFill>
          <a:ln w="12700">
            <a:solidFill>
              <a:srgbClr val="FFF0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28232" y="405993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85432" y="4059936"/>
            <a:ext cx="4425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intelligence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28232" y="4562856"/>
            <a:ext cx="4882896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CGPA, TOEFL, and GRE are the strongest correlates of admission (r = 0.74 / 0.70 / 0.68)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MLP_deep_8_4 as a screening aid: surface predicted likelihood next to top factors, route borderline cases to human review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needs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137160" cy="137160"/>
          </a:xfrm>
          <a:prstGeom prst="ellipse">
            <a:avLst/>
          </a:prstGeom>
          <a:solidFill>
            <a:srgbClr val="1F6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55096" y="384048"/>
            <a:ext cx="137160" cy="137160"/>
          </a:xfrm>
          <a:prstGeom prst="ellipse">
            <a:avLst/>
          </a:prstGeom>
          <a:solidFill>
            <a:srgbClr val="7C4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74552" y="384048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94008" y="384048"/>
            <a:ext cx="137160" cy="137160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274552" cy="1234440"/>
          </a:xfrm>
          <a:prstGeom prst="roundRect">
            <a:avLst>
              <a:gd name="adj" fmla="val 4444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applicant's GRE, TOEFL, CGPA, SOP/LOR, rating, and research profile, can we predict whether they're likely admitted — and which factors matter most?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committees review hundreds of applications per cycle under time pressure, risking inconsistent screening.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GPA or GRE cutoff ignores how SOP/LOR strength and research experience interact with test scores.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model-based screen lets reviewers focus attention on borderline applicants instead of re-reading every file equally.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971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549640" y="3017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applicants (dataset)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20840" y="4114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54964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architectures compared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20840" y="5257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49640" y="5303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of deployed model (MLP_deep_8_4)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137160" cy="137160"/>
          </a:xfrm>
          <a:prstGeom prst="ellipse">
            <a:avLst/>
          </a:prstGeom>
          <a:solidFill>
            <a:srgbClr val="1F6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55096" y="384048"/>
            <a:ext cx="137160" cy="137160"/>
          </a:xfrm>
          <a:prstGeom prst="ellipse">
            <a:avLst/>
          </a:prstGeom>
          <a:solidFill>
            <a:srgbClr val="7C4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74552" y="384048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94008" y="384048"/>
            <a:ext cx="137160" cy="137160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7104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78419"/>
            <a:ext cx="42689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applicants, 9 raw fields; zero missing values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Admit_Chance is a continuous estimated probability, binarized at ≥ 0.8 → “likely admitted” (31% positive)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99638"/>
            <a:ext cx="27104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089337"/>
            <a:ext cx="4268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Serial_No dropped; University_Rating (1–5) and Research (0/1) cast to category and one-hot encoded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fit on the training split only (leakage-safe) → 12 model features; 80/20 stratified split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56276"/>
            <a:ext cx="27104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correlations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645974"/>
            <a:ext cx="4268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vs. Admit_Chance: r = 0.742 — the single strongest academic predictor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TOEFL_Score: r = 0.699; GRE_Score: r = 0.684 — both close behind CGPA</a:t>
            </a:r>
            <a:endParaRPr lang="en-US" sz="1300" dirty="0"/>
          </a:p>
        </p:txBody>
      </p:sp>
      <p:pic>
        <p:nvPicPr>
          <p:cNvPr id="13" name="Image 0" descr="/home/claude/assets/EDA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194" y="847089"/>
            <a:ext cx="3233192" cy="3130551"/>
          </a:xfrm>
          <a:prstGeom prst="rect">
            <a:avLst/>
          </a:prstGeom>
        </p:spPr>
      </p:pic>
      <p:pic>
        <p:nvPicPr>
          <p:cNvPr id="14" name="Image 1" descr="/home/claude/assets/targe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943" y="731520"/>
            <a:ext cx="2843065" cy="28430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53582" y="3520440"/>
            <a:ext cx="3042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of applicants are labeled “likely admitted.”</a:t>
            </a:r>
            <a:endParaRPr lang="en-US" sz="1050" dirty="0"/>
          </a:p>
        </p:txBody>
      </p:sp>
      <p:pic>
        <p:nvPicPr>
          <p:cNvPr id="16" name="Image 2" descr="/home/claude/assets/EDA_feature_distribu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1865" y="4018274"/>
            <a:ext cx="5872143" cy="21581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137160" cy="137160"/>
          </a:xfrm>
          <a:prstGeom prst="ellipse">
            <a:avLst/>
          </a:prstGeom>
          <a:solidFill>
            <a:srgbClr val="1F6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55096" y="384048"/>
            <a:ext cx="137160" cy="137160"/>
          </a:xfrm>
          <a:prstGeom prst="ellipse">
            <a:avLst/>
          </a:prstGeom>
          <a:solidFill>
            <a:srgbClr val="7C4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74552" y="384048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94008" y="384048"/>
            <a:ext cx="137160" cy="137160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673996"/>
              </p:ext>
            </p:extLst>
          </p:nvPr>
        </p:nvGraphicFramePr>
        <p:xfrm>
          <a:off x="457200" y="1188720"/>
          <a:ext cx="4453848" cy="1499616"/>
        </p:xfrm>
        <a:graphic>
          <a:graphicData uri="http://schemas.openxmlformats.org/drawingml/2006/table">
            <a:tbl>
              <a:tblPr/>
              <a:tblGrid>
                <a:gridCol w="1696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MLP_deep_8_4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MLP_relu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MLP_tanh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880360"/>
            <a:ext cx="445384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architectures share batch_size=50, random_state=123; only hidden-layer shape/activation differ — relu(3,), tanh(3,), deep(8,4)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criterion: highest held-out test accuracy → MLP_deep_8_4 (0.920)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check (5-fold CV): MLP_deep_8_4 also has the highest, most stable CV mean (0.9225, std 0.0215) vs. relu (0.9125, std 0.0274) and tanh (0.9150, std 0.0215)</a:t>
            </a:r>
            <a:endParaRPr lang="en-US" sz="1300" dirty="0"/>
          </a:p>
        </p:txBody>
      </p:sp>
      <p:pic>
        <p:nvPicPr>
          <p:cNvPr id="9" name="Image 0" descr="/home/claude/assets/accura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415" y="659761"/>
            <a:ext cx="6144768" cy="3098644"/>
          </a:xfrm>
          <a:prstGeom prst="rect">
            <a:avLst/>
          </a:prstGeom>
        </p:spPr>
      </p:pic>
      <p:pic>
        <p:nvPicPr>
          <p:cNvPr id="10" name="Image 1" descr="/home/claude/assets/train_vs_test_accur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242" y="3977640"/>
            <a:ext cx="3022228" cy="2810142"/>
          </a:xfrm>
          <a:prstGeom prst="rect">
            <a:avLst/>
          </a:prstGeom>
        </p:spPr>
      </p:pic>
      <p:pic>
        <p:nvPicPr>
          <p:cNvPr id="11" name="Image 2" descr="/home/claude/assets/loss_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3895447"/>
            <a:ext cx="3022228" cy="28101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137160" cy="137160"/>
          </a:xfrm>
          <a:prstGeom prst="ellipse">
            <a:avLst/>
          </a:prstGeom>
          <a:solidFill>
            <a:srgbClr val="1F6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55096" y="384048"/>
            <a:ext cx="137160" cy="137160"/>
          </a:xfrm>
          <a:prstGeom prst="ellipse">
            <a:avLst/>
          </a:prstGeom>
          <a:solidFill>
            <a:srgbClr val="7C4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74552" y="384048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94008" y="384048"/>
            <a:ext cx="137160" cy="137160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ssets/deployed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18" y="1141777"/>
            <a:ext cx="3523129" cy="3202845"/>
          </a:xfrm>
          <a:prstGeom prst="rect">
            <a:avLst/>
          </a:prstGeom>
        </p:spPr>
      </p:pic>
      <p:pic>
        <p:nvPicPr>
          <p:cNvPr id="8" name="Image 1" descr="/home/claude/assets/top_factors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59" y="4436062"/>
            <a:ext cx="5907741" cy="21933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61568" y="1188720"/>
            <a:ext cx="32853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575612" y="1508760"/>
            <a:ext cx="517442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model, MLP_deep_8_4, correctly classifies 92 of 100 held-out applicants (test accuracy 0.920), with balanced precision/recall on both classes (0.94/0.94 unlikely, 0.87/0.87 likely admitted).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CGPA, TOEFL, and GRE are the top correlates of admission (r = 0.74 / 0.70 / 0.68) — SOP and LOR matter but less.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gap is only +0.015, so the model is not meaningfully overfit despite the modest dataset (500 applicants).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361568" y="3794760"/>
            <a:ext cx="32853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575612" y="4114800"/>
            <a:ext cx="517442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MLP_deep_8_4's predicted probability as a screening aid, not a final decision — surface it next to the applicant's CGPA/GRE/TOEFL.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borderline predictions (probability near the 0.8 cutoff) to human review rather than auto-accepting or rejecting.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applicants that raising CGPA, TOEFL, or GRE moves their predicted outcome the most among the six inputs.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live predictions through the Streamlit Business Intelligence tab so any advisor can enter a profile and get an instant, single-model call.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137160" cy="137160"/>
          </a:xfrm>
          <a:prstGeom prst="ellipse">
            <a:avLst/>
          </a:prstGeom>
          <a:solidFill>
            <a:srgbClr val="1F6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55096" y="384048"/>
            <a:ext cx="137160" cy="137160"/>
          </a:xfrm>
          <a:prstGeom prst="ellipse">
            <a:avLst/>
          </a:prstGeom>
          <a:solidFill>
            <a:srgbClr val="7C4D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74552" y="384048"/>
            <a:ext cx="137160" cy="13716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94008" y="384048"/>
            <a:ext cx="137160" cy="137160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BF7EA"/>
          </a:solidFill>
          <a:ln w="12700">
            <a:solidFill>
              <a:srgbClr val="A8E6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35608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Admit_Chance is a proxy, not a decision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1847088"/>
            <a:ext cx="4882896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is the original dataset's estimated admission probability, not a confirmed admissions outcome, and the 0.8 cutoff for “likely admitted” is a modeling choice, not an official threshold.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EDFA"/>
          </a:solidFill>
          <a:ln w="12700">
            <a:solidFill>
              <a:srgbClr val="C9A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8232" y="1435608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isn't the full picture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1847088"/>
            <a:ext cx="4882896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CGPA/TOEFL/GRE correlate most with admission, but the MLP combines all six inputs nonlinearly — the correlation ranking is a simplification of what the network actually uses.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58768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AF4FB"/>
          </a:solidFill>
          <a:ln w="12700">
            <a:solidFill>
              <a:srgbClr val="8EC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4059936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Modest, imbalanced test set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" y="4471416"/>
            <a:ext cx="4882896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100 applicants are held out, and just 31 are labeled “likely admitted” — per-class metrics like recall on the minority class carry real sampling uncertainty.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858768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DF8E2"/>
          </a:solidFill>
          <a:ln w="12700">
            <a:solidFill>
              <a:srgbClr val="FFF0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28232" y="4059936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8232" y="4471416"/>
            <a:ext cx="4882896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predicted probability reflects historical association with Admit_Chance, not a guarantee that raising a score causes admission — confounds such as recommendation strength are not captured.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956</Words>
  <Application>Microsoft Macintosh PowerPoint</Application>
  <PresentationFormat>Widescreen</PresentationFormat>
  <Paragraphs>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Donghwan Won</cp:lastModifiedBy>
  <cp:revision>2</cp:revision>
  <dcterms:created xsi:type="dcterms:W3CDTF">2026-08-04T19:38:28Z</dcterms:created>
  <dcterms:modified xsi:type="dcterms:W3CDTF">2026-08-07T16:39:32Z</dcterms:modified>
</cp:coreProperties>
</file>