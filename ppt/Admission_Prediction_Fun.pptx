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5092"/>
  </p:normalViewPr>
  <p:slideViewPr>
    <p:cSldViewPr snapToGrid="0" snapToObjects="1">
      <p:cViewPr varScale="1">
        <p:scale>
          <a:sx n="77" d="100"/>
          <a:sy n="77" d="100"/>
        </p:scale>
        <p:origin x="2104"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2741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question for the room: you're on an admissions committee, it's 2 a.m., and you have 500 files left. Six numbers per applicant — GRE, TOEFL, CGPA, statement, letters, research. Could a machine tell you which ones deserve your attention first? That's today's project. We trained three neural networks on 500 real graduate applicants, made them compete, and the winner gets 92 out of 100 right. But the interesting part isn't the accuracy — it's which network won, and why that surprised us.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problem we started from. Admissions committees read hundreds of applications per cycle under real time pressure, and when you're tired, your standards drift — the same file can get a different call depending on who opens it and when. The usual fix is a hard cutoff: minimum GPA, minimum GRE. That's consistent, but it's blunt. It can't see that a modest test score sitting next to strong letters and real research experience is a different applicant than the same score alone. What we wanted wasn't a machine that decides — it was a machine that tells reviewers where to look first.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500 graduate applicants, nine raw fields, and — refreshingly — zero missing values. But there's a catch in the target. The dataset doesn't say 'admitted' or 'rejected'; it gives Admit_Chance, a continuous estimated probability. To turn this into a classification problem we had to pick a line, and we picked 0.8. That leaves 155 of 500 applicants — 31 percent — labeled likely admitted. I want to flag that clearly: the 0.8 is our decision, not the university's. Move it and every number in this deck moves with it. From there it's routine engineering: drop the serial number, one-hot encode university rating and research, and we land on 12 model features. Split 80/20, stratified, and MinMaxScaler is fit on the training split only — so the test set stays genuinely unseen.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MLP classifiers, one bake-off. All three share the same 80/20 split, the same batch_size of 50 and the same random_state of 123 — the only thing that changes is the shape of the hidden layers. Number one: a single layer of three neurons with ReLU. Number two: the same three neurons with tanh. Number three, which we call deep_8_4: two layers, eight neurons then four. Selection criterion is held-out test accuracy, and deep_8_4 takes it at 0.920 against 0.900 for both of the others. Now, be honest about that margin — 0.920 versus 0.900 on a 100-applicant test set is two applicants. So we don't rest on test accuracy alone; we run five-fold cross-validation as a stability check, and deep_8_4 wins there too with the highest mean at 0.9225 with a standard deviation of 0.0215, against 0.9125 plus or minus 0.0274 for ReLU and 0.9150 plus or minus 0.0215 for tanh — so it is both the best and the steadiest. Two independent checks agreeing is what makes this a decision rather than a coin flip.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part I did not expect. Look at the train column. tanh is the best student in the room — 0.940 on data it has already seen, the highest of the three. And it finishes last on the test set at 0.900. Meanwhile deep_8_4, the biggest network with two layers instead of one, has a train–test gap of only +0.015. The textbook worry is that more capacity means more overfitting; here the deeper network generalized best and the shallow tanh network memorized hardest. Two takeaways. First, never rank models on training accuracy — it rewards memorization. Second, 'deep equals overfit' is a rule of thumb, not a law; at eight and four neurons on 12 features, deep_8_4 still isn't big enough to memorize 400 training rows, so the extra layer bought us real structure instead of noise.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scoreboard. On 100 held-out applicants the deployed model gets 92 right. Read the matrix: 65 correctly identified as unlikely, 27 correctly identified as likely admitted, and the eight errors split evenly — four false alarms and four missed admits. That symmetry matters. A 92 percent model that got there by always saying 'unlikely' would score well on a dataset that's only 31 percent positive, and it would be useless. Ours doesn't do that: precision and recall are 0.94 and 0.94 on the unlikely class and 0.87 and 0.87 on the likely class, so it's competent on both sides. On what drives admission, CGPA leads at 0.742, then TOEFL at 0.699 and GRE at 0.684 — statement and letters correlate too, just less. And the train–test gap of 0.015 tells us this performance should survive contact with new applicants.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honest limits, quickly. One: the target is a proxy. Admit_Chance is the dataset's own estimated probability, not a confirmed outcome, and the 0.8 line is ours — so 'likely admitted' means likely by our definition. Two: the correlation ranking is a simplification. CGPA leads at 0.74, but the network combines all six inputs nonlinearly, so that list describes the data, not the model's internal reasoning. Three: the test set is small and lopsided — 100 applicants, only 31 positive — which means the 0.87 recall on the likely class rests on 31 cases and would move if we resampled. Four: nothing here is causal. The model learned historical association, so telling an applicant that a higher CGPA will get them in overstates what we know — confounds like recommendation strength were never measured.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what do we actually do with it? Four things. First, it's a screening aid, not a decision — the predicted probability appears next to the applicant's CGPA, GRE and TOEFL so a reviewer always sees the evidence, never just the verdict. Second, anything near the 0.8 cutoff goes to a human; those are precisely the cases where the model is least sure, so no auto-accepts and no auto-rejects. Third, for advising: of the six inputs, CGPA, TOEFL and GRE move the predicted outcome most — worth knowing, with the caveat from the last slide that association isn't causation. And fourth, all of this runs live in the Streamlit app — type in an applicant's profile, get the call instantly. Three networks argued, the deepest one won by generalizing instead of memorizing, and it gets 92 out of 100 right. Thanks, everyone!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9235440" y="-1463040"/>
            <a:ext cx="5120640" cy="5120640"/>
          </a:xfrm>
          <a:prstGeom prst="ellipse">
            <a:avLst/>
          </a:prstGeom>
          <a:solidFill>
            <a:srgbClr val="FF9F1C">
              <a:alpha val="12000"/>
            </a:srgbClr>
          </a:solidFill>
          <a:ln>
            <a:noFill/>
          </a:ln>
          <a:effectLst/>
        </p:spPr>
        <p:txBody>
          <a:bodyPr rtlCol="0" anchor="ctr"/>
          <a:lstStyle/>
          <a:p>
            <a:pPr algn="ctr"/>
            <a:endParaRPr/>
          </a:p>
        </p:txBody>
      </p:sp>
      <p:sp>
        <p:nvSpPr>
          <p:cNvPr id="3" name="Oval 2"/>
          <p:cNvSpPr/>
          <p:nvPr/>
        </p:nvSpPr>
        <p:spPr>
          <a:xfrm>
            <a:off x="10607040" y="3291840"/>
            <a:ext cx="2926080" cy="2926080"/>
          </a:xfrm>
          <a:prstGeom prst="ellipse">
            <a:avLst/>
          </a:prstGeom>
          <a:solidFill>
            <a:srgbClr val="2EC4B6">
              <a:alpha val="10000"/>
            </a:srgbClr>
          </a:solidFill>
          <a:ln>
            <a:noFill/>
          </a:ln>
          <a:effectLst/>
        </p:spPr>
        <p:txBody>
          <a:bodyPr rtlCol="0" anchor="ctr"/>
          <a:lstStyle/>
          <a:p>
            <a:pPr algn="ctr"/>
            <a:endParaRPr/>
          </a:p>
        </p:txBody>
      </p:sp>
      <p:sp>
        <p:nvSpPr>
          <p:cNvPr id="4" name="TextBox 3"/>
          <p:cNvSpPr txBox="1"/>
          <p:nvPr/>
        </p:nvSpPr>
        <p:spPr>
          <a:xfrm>
            <a:off x="640080" y="1280160"/>
            <a:ext cx="8229600" cy="365760"/>
          </a:xfrm>
          <a:prstGeom prst="rect">
            <a:avLst/>
          </a:prstGeom>
          <a:noFill/>
        </p:spPr>
        <p:txBody>
          <a:bodyPr wrap="square" lIns="0" tIns="0" rIns="0" bIns="0" anchor="ctr">
            <a:spAutoFit/>
          </a:bodyPr>
          <a:lstStyle/>
          <a:p>
            <a:pPr algn="l"/>
            <a:r>
              <a:rPr sz="1400" b="1" i="0" spc="200">
                <a:solidFill>
                  <a:srgbClr val="2EC4B6"/>
                </a:solidFill>
                <a:latin typeface="Arial"/>
              </a:rPr>
              <a:t>UCLA ADMISSION PREDICTION</a:t>
            </a:r>
          </a:p>
        </p:txBody>
      </p:sp>
      <p:sp>
        <p:nvSpPr>
          <p:cNvPr id="5" name="TextBox 4"/>
          <p:cNvSpPr txBox="1"/>
          <p:nvPr/>
        </p:nvSpPr>
        <p:spPr>
          <a:xfrm>
            <a:off x="594360" y="1737360"/>
            <a:ext cx="10881360" cy="2286000"/>
          </a:xfrm>
          <a:prstGeom prst="rect">
            <a:avLst/>
          </a:prstGeom>
          <a:noFill/>
        </p:spPr>
        <p:txBody>
          <a:bodyPr wrap="square" lIns="0" tIns="0" rIns="0" bIns="0" anchor="ctr">
            <a:spAutoFit/>
          </a:bodyPr>
          <a:lstStyle/>
          <a:p>
            <a:pPr algn="l">
              <a:lnSpc>
                <a:spcPct val="105000"/>
              </a:lnSpc>
            </a:pPr>
            <a:r>
              <a:rPr sz="4600" b="1" i="0">
                <a:solidFill>
                  <a:srgbClr val="14213D"/>
                </a:solidFill>
                <a:latin typeface="Arial"/>
              </a:rPr>
              <a:t>Will You Get In?</a:t>
            </a:r>
          </a:p>
          <a:p>
            <a:pPr algn="l">
              <a:lnSpc>
                <a:spcPct val="105000"/>
              </a:lnSpc>
            </a:pPr>
            <a:r>
              <a:rPr sz="4600" b="1" i="0">
                <a:solidFill>
                  <a:srgbClr val="FF9F1C"/>
                </a:solidFill>
                <a:latin typeface="Arial"/>
              </a:rPr>
              <a:t>Three Networks Disagree.</a:t>
            </a:r>
          </a:p>
        </p:txBody>
      </p:sp>
      <p:sp>
        <p:nvSpPr>
          <p:cNvPr id="6" name="TextBox 5"/>
          <p:cNvSpPr txBox="1"/>
          <p:nvPr/>
        </p:nvSpPr>
        <p:spPr>
          <a:xfrm>
            <a:off x="640080" y="3840480"/>
            <a:ext cx="8686800" cy="457200"/>
          </a:xfrm>
          <a:prstGeom prst="rect">
            <a:avLst/>
          </a:prstGeom>
          <a:noFill/>
        </p:spPr>
        <p:txBody>
          <a:bodyPr wrap="square" lIns="0" tIns="0" rIns="0" bIns="0" anchor="ctr">
            <a:spAutoFit/>
          </a:bodyPr>
          <a:lstStyle/>
          <a:p>
            <a:pPr algn="l"/>
            <a:r>
              <a:rPr sz="1800" b="0" i="0">
                <a:solidFill>
                  <a:srgbClr val="6B7280"/>
                </a:solidFill>
                <a:latin typeface="Arial"/>
              </a:rPr>
              <a:t>500 graduate applicants, six numbers each — and a neural network deciding who deserves a second read.</a:t>
            </a:r>
          </a:p>
        </p:txBody>
      </p:sp>
      <p:sp>
        <p:nvSpPr>
          <p:cNvPr id="7" name="Rounded Rectangle 6"/>
          <p:cNvSpPr/>
          <p:nvPr/>
        </p:nvSpPr>
        <p:spPr>
          <a:xfrm>
            <a:off x="640080" y="5074920"/>
            <a:ext cx="2011680" cy="1051560"/>
          </a:xfrm>
          <a:prstGeom prst="roundRect">
            <a:avLst>
              <a:gd name="adj" fmla="val 10434"/>
            </a:avLst>
          </a:prstGeom>
          <a:solidFill>
            <a:srgbClr val="F4F5F7"/>
          </a:solidFill>
          <a:ln>
            <a:noFill/>
          </a:ln>
          <a:effectLst/>
        </p:spPr>
        <p:txBody>
          <a:bodyPr rtlCol="0" anchor="ctr"/>
          <a:lstStyle/>
          <a:p>
            <a:pPr algn="ctr"/>
            <a:endParaRPr/>
          </a:p>
        </p:txBody>
      </p:sp>
      <p:sp>
        <p:nvSpPr>
          <p:cNvPr id="8" name="TextBox 7"/>
          <p:cNvSpPr txBox="1"/>
          <p:nvPr/>
        </p:nvSpPr>
        <p:spPr>
          <a:xfrm>
            <a:off x="640080" y="5184648"/>
            <a:ext cx="2011680" cy="502920"/>
          </a:xfrm>
          <a:prstGeom prst="rect">
            <a:avLst/>
          </a:prstGeom>
          <a:noFill/>
        </p:spPr>
        <p:txBody>
          <a:bodyPr wrap="square" lIns="0" tIns="0" rIns="0" bIns="0" anchor="ctr">
            <a:spAutoFit/>
          </a:bodyPr>
          <a:lstStyle/>
          <a:p>
            <a:pPr algn="ctr"/>
            <a:r>
              <a:rPr sz="2400" b="1" i="0">
                <a:solidFill>
                  <a:srgbClr val="14213D"/>
                </a:solidFill>
                <a:latin typeface="Arial"/>
              </a:rPr>
              <a:t>500</a:t>
            </a:r>
          </a:p>
        </p:txBody>
      </p:sp>
      <p:sp>
        <p:nvSpPr>
          <p:cNvPr id="9" name="TextBox 8"/>
          <p:cNvSpPr txBox="1"/>
          <p:nvPr/>
        </p:nvSpPr>
        <p:spPr>
          <a:xfrm>
            <a:off x="640080" y="5696712"/>
            <a:ext cx="2011680" cy="320040"/>
          </a:xfrm>
          <a:prstGeom prst="rect">
            <a:avLst/>
          </a:prstGeom>
          <a:noFill/>
        </p:spPr>
        <p:txBody>
          <a:bodyPr wrap="square" lIns="0" tIns="0" rIns="0" bIns="0" anchor="ctr">
            <a:spAutoFit/>
          </a:bodyPr>
          <a:lstStyle/>
          <a:p>
            <a:pPr algn="ctr"/>
            <a:r>
              <a:rPr sz="1150" b="0" i="0">
                <a:solidFill>
                  <a:srgbClr val="6B7280"/>
                </a:solidFill>
                <a:latin typeface="Arial"/>
              </a:rPr>
              <a:t>applicants</a:t>
            </a:r>
          </a:p>
        </p:txBody>
      </p:sp>
      <p:sp>
        <p:nvSpPr>
          <p:cNvPr id="10" name="Rounded Rectangle 9"/>
          <p:cNvSpPr/>
          <p:nvPr/>
        </p:nvSpPr>
        <p:spPr>
          <a:xfrm>
            <a:off x="2852928" y="5074920"/>
            <a:ext cx="2011680" cy="1051560"/>
          </a:xfrm>
          <a:prstGeom prst="roundRect">
            <a:avLst>
              <a:gd name="adj" fmla="val 10434"/>
            </a:avLst>
          </a:prstGeom>
          <a:solidFill>
            <a:srgbClr val="F4F5F7"/>
          </a:solidFill>
          <a:ln>
            <a:noFill/>
          </a:ln>
          <a:effectLst/>
        </p:spPr>
        <p:txBody>
          <a:bodyPr rtlCol="0" anchor="ctr"/>
          <a:lstStyle/>
          <a:p>
            <a:pPr algn="ctr"/>
            <a:endParaRPr/>
          </a:p>
        </p:txBody>
      </p:sp>
      <p:sp>
        <p:nvSpPr>
          <p:cNvPr id="11" name="TextBox 10"/>
          <p:cNvSpPr txBox="1"/>
          <p:nvPr/>
        </p:nvSpPr>
        <p:spPr>
          <a:xfrm>
            <a:off x="2852928" y="5184648"/>
            <a:ext cx="2011680" cy="502920"/>
          </a:xfrm>
          <a:prstGeom prst="rect">
            <a:avLst/>
          </a:prstGeom>
          <a:noFill/>
        </p:spPr>
        <p:txBody>
          <a:bodyPr wrap="square" lIns="0" tIns="0" rIns="0" bIns="0" anchor="ctr">
            <a:spAutoFit/>
          </a:bodyPr>
          <a:lstStyle/>
          <a:p>
            <a:pPr algn="ctr"/>
            <a:r>
              <a:rPr sz="2400" b="1" i="0">
                <a:solidFill>
                  <a:srgbClr val="14213D"/>
                </a:solidFill>
                <a:latin typeface="Arial"/>
              </a:rPr>
              <a:t>3</a:t>
            </a:r>
          </a:p>
        </p:txBody>
      </p:sp>
      <p:sp>
        <p:nvSpPr>
          <p:cNvPr id="12" name="TextBox 11"/>
          <p:cNvSpPr txBox="1"/>
          <p:nvPr/>
        </p:nvSpPr>
        <p:spPr>
          <a:xfrm>
            <a:off x="2852928" y="5696712"/>
            <a:ext cx="2011680" cy="320040"/>
          </a:xfrm>
          <a:prstGeom prst="rect">
            <a:avLst/>
          </a:prstGeom>
          <a:noFill/>
        </p:spPr>
        <p:txBody>
          <a:bodyPr wrap="square" lIns="0" tIns="0" rIns="0" bIns="0" anchor="ctr">
            <a:spAutoFit/>
          </a:bodyPr>
          <a:lstStyle/>
          <a:p>
            <a:pPr algn="ctr"/>
            <a:r>
              <a:rPr sz="1150" b="0" i="0">
                <a:solidFill>
                  <a:srgbClr val="6B7280"/>
                </a:solidFill>
                <a:latin typeface="Arial"/>
              </a:rPr>
              <a:t>networks compared</a:t>
            </a:r>
          </a:p>
        </p:txBody>
      </p:sp>
      <p:sp>
        <p:nvSpPr>
          <p:cNvPr id="13" name="Rounded Rectangle 12"/>
          <p:cNvSpPr/>
          <p:nvPr/>
        </p:nvSpPr>
        <p:spPr>
          <a:xfrm>
            <a:off x="5065776" y="5074920"/>
            <a:ext cx="2011680" cy="1051560"/>
          </a:xfrm>
          <a:prstGeom prst="roundRect">
            <a:avLst>
              <a:gd name="adj" fmla="val 10434"/>
            </a:avLst>
          </a:prstGeom>
          <a:solidFill>
            <a:srgbClr val="F4F5F7"/>
          </a:solidFill>
          <a:ln>
            <a:noFill/>
          </a:ln>
          <a:effectLst/>
        </p:spPr>
        <p:txBody>
          <a:bodyPr rtlCol="0" anchor="ctr"/>
          <a:lstStyle/>
          <a:p>
            <a:pPr algn="ctr"/>
            <a:endParaRPr/>
          </a:p>
        </p:txBody>
      </p:sp>
      <p:sp>
        <p:nvSpPr>
          <p:cNvPr id="14" name="TextBox 13"/>
          <p:cNvSpPr txBox="1"/>
          <p:nvPr/>
        </p:nvSpPr>
        <p:spPr>
          <a:xfrm>
            <a:off x="5065776" y="5184648"/>
            <a:ext cx="2011680" cy="502920"/>
          </a:xfrm>
          <a:prstGeom prst="rect">
            <a:avLst/>
          </a:prstGeom>
          <a:noFill/>
        </p:spPr>
        <p:txBody>
          <a:bodyPr wrap="square" lIns="0" tIns="0" rIns="0" bIns="0" anchor="ctr">
            <a:spAutoFit/>
          </a:bodyPr>
          <a:lstStyle/>
          <a:p>
            <a:pPr algn="ctr"/>
            <a:r>
              <a:rPr sz="2400" b="1" i="0">
                <a:solidFill>
                  <a:srgbClr val="14213D"/>
                </a:solidFill>
                <a:latin typeface="Arial"/>
              </a:rPr>
              <a:t>0.920</a:t>
            </a:r>
          </a:p>
        </p:txBody>
      </p:sp>
      <p:sp>
        <p:nvSpPr>
          <p:cNvPr id="15" name="TextBox 14"/>
          <p:cNvSpPr txBox="1"/>
          <p:nvPr/>
        </p:nvSpPr>
        <p:spPr>
          <a:xfrm>
            <a:off x="5065776" y="5696712"/>
            <a:ext cx="2011680" cy="320040"/>
          </a:xfrm>
          <a:prstGeom prst="rect">
            <a:avLst/>
          </a:prstGeom>
          <a:noFill/>
        </p:spPr>
        <p:txBody>
          <a:bodyPr wrap="square" lIns="0" tIns="0" rIns="0" bIns="0" anchor="ctr">
            <a:spAutoFit/>
          </a:bodyPr>
          <a:lstStyle/>
          <a:p>
            <a:pPr algn="ctr"/>
            <a:r>
              <a:rPr sz="1150" b="0" i="0">
                <a:solidFill>
                  <a:srgbClr val="6B7280"/>
                </a:solidFill>
                <a:latin typeface="Arial"/>
              </a:rPr>
              <a:t>test accuracy</a:t>
            </a:r>
          </a:p>
        </p:txBody>
      </p:sp>
      <p:sp>
        <p:nvSpPr>
          <p:cNvPr id="16" name="TextBox 15"/>
          <p:cNvSpPr txBox="1"/>
          <p:nvPr/>
        </p:nvSpPr>
        <p:spPr>
          <a:xfrm>
            <a:off x="640080" y="6400800"/>
            <a:ext cx="8686800" cy="320040"/>
          </a:xfrm>
          <a:prstGeom prst="rect">
            <a:avLst/>
          </a:prstGeom>
          <a:noFill/>
        </p:spPr>
        <p:txBody>
          <a:bodyPr wrap="square" lIns="0" tIns="0" rIns="0" bIns="0" anchor="ctr">
            <a:spAutoFit/>
          </a:bodyPr>
          <a:lstStyle/>
          <a:p>
            <a:pPr algn="l"/>
            <a:r>
              <a:rPr sz="1150" b="0" i="0">
                <a:solidFill>
                  <a:srgbClr val="6B7280"/>
                </a:solidFill>
                <a:latin typeface="Arial"/>
              </a:rPr>
              <a:t>Python · pandas · scikit-learn · matplotlib · seaborn · Streamlit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8229600" cy="365760"/>
          </a:xfrm>
          <a:prstGeom prst="rect">
            <a:avLst/>
          </a:prstGeom>
          <a:noFill/>
        </p:spPr>
        <p:txBody>
          <a:bodyPr wrap="square" lIns="0" tIns="0" rIns="0" bIns="0" anchor="ctr">
            <a:spAutoFit/>
          </a:bodyPr>
          <a:lstStyle/>
          <a:p>
            <a:pPr algn="l"/>
            <a:r>
              <a:rPr sz="1300" b="1" i="0" spc="200">
                <a:solidFill>
                  <a:srgbClr val="E85D4C"/>
                </a:solidFill>
                <a:latin typeface="Arial"/>
              </a:rPr>
              <a:t>THE OLD WAY</a:t>
            </a:r>
          </a:p>
        </p:txBody>
      </p:sp>
      <p:sp>
        <p:nvSpPr>
          <p:cNvPr id="3" name="TextBox 2"/>
          <p:cNvSpPr txBox="1"/>
          <p:nvPr/>
        </p:nvSpPr>
        <p:spPr>
          <a:xfrm>
            <a:off x="594360" y="868680"/>
            <a:ext cx="10881360" cy="1463040"/>
          </a:xfrm>
          <a:prstGeom prst="rect">
            <a:avLst/>
          </a:prstGeom>
          <a:noFill/>
        </p:spPr>
        <p:txBody>
          <a:bodyPr wrap="square" lIns="0" tIns="0" rIns="0" bIns="0" anchor="ctr">
            <a:spAutoFit/>
          </a:bodyPr>
          <a:lstStyle/>
          <a:p>
            <a:pPr algn="l">
              <a:lnSpc>
                <a:spcPct val="105000"/>
              </a:lnSpc>
            </a:pPr>
            <a:r>
              <a:rPr sz="3200" b="1" i="0">
                <a:solidFill>
                  <a:srgbClr val="14213D"/>
                </a:solidFill>
                <a:latin typeface="Arial"/>
              </a:rPr>
              <a:t>One Cutoff, Hundreds of Files,</a:t>
            </a:r>
          </a:p>
          <a:p>
            <a:pPr algn="l">
              <a:lnSpc>
                <a:spcPct val="105000"/>
              </a:lnSpc>
            </a:pPr>
            <a:r>
              <a:rPr sz="3200" b="1" i="0">
                <a:solidFill>
                  <a:srgbClr val="14213D"/>
                </a:solidFill>
                <a:latin typeface="Arial"/>
              </a:rPr>
              <a:t>and Nobody Agrees.</a:t>
            </a:r>
          </a:p>
        </p:txBody>
      </p:sp>
      <p:sp>
        <p:nvSpPr>
          <p:cNvPr id="4" name="TextBox 3"/>
          <p:cNvSpPr txBox="1"/>
          <p:nvPr/>
        </p:nvSpPr>
        <p:spPr>
          <a:xfrm>
            <a:off x="640080" y="2286000"/>
            <a:ext cx="9144000" cy="457200"/>
          </a:xfrm>
          <a:prstGeom prst="rect">
            <a:avLst/>
          </a:prstGeom>
          <a:noFill/>
        </p:spPr>
        <p:txBody>
          <a:bodyPr wrap="square" lIns="0" tIns="0" rIns="0" bIns="0" anchor="ctr">
            <a:spAutoFit/>
          </a:bodyPr>
          <a:lstStyle/>
          <a:p>
            <a:pPr algn="l"/>
            <a:r>
              <a:rPr sz="1800" b="0" i="1">
                <a:solidFill>
                  <a:srgbClr val="6B7280"/>
                </a:solidFill>
                <a:latin typeface="Arial"/>
              </a:rPr>
              <a:t>— the same applicant can pass with one reviewer and fail with the next.</a:t>
            </a:r>
          </a:p>
        </p:txBody>
      </p:sp>
      <p:sp>
        <p:nvSpPr>
          <p:cNvPr id="5" name="Rounded Rectangle 4"/>
          <p:cNvSpPr/>
          <p:nvPr/>
        </p:nvSpPr>
        <p:spPr>
          <a:xfrm>
            <a:off x="640080" y="3246120"/>
            <a:ext cx="10881360" cy="1005840"/>
          </a:xfrm>
          <a:prstGeom prst="roundRect">
            <a:avLst>
              <a:gd name="adj" fmla="val 9090"/>
            </a:avLst>
          </a:prstGeom>
          <a:solidFill>
            <a:srgbClr val="F4F5F7"/>
          </a:solidFill>
          <a:ln>
            <a:noFill/>
          </a:ln>
          <a:effectLst/>
        </p:spPr>
        <p:txBody>
          <a:bodyPr rtlCol="0" anchor="ctr"/>
          <a:lstStyle/>
          <a:p>
            <a:pPr algn="ctr"/>
            <a:endParaRPr/>
          </a:p>
        </p:txBody>
      </p:sp>
      <p:sp>
        <p:nvSpPr>
          <p:cNvPr id="6" name="TextBox 5"/>
          <p:cNvSpPr txBox="1"/>
          <p:nvPr/>
        </p:nvSpPr>
        <p:spPr>
          <a:xfrm>
            <a:off x="868680" y="3246120"/>
            <a:ext cx="822960" cy="1005840"/>
          </a:xfrm>
          <a:prstGeom prst="rect">
            <a:avLst/>
          </a:prstGeom>
          <a:noFill/>
        </p:spPr>
        <p:txBody>
          <a:bodyPr wrap="square" lIns="0" tIns="0" rIns="0" bIns="0" anchor="ctr">
            <a:spAutoFit/>
          </a:bodyPr>
          <a:lstStyle/>
          <a:p>
            <a:pPr algn="l"/>
            <a:r>
              <a:rPr sz="2800" b="0" i="0">
                <a:solidFill>
                  <a:srgbClr val="1F2430"/>
                </a:solidFill>
                <a:latin typeface="Arial"/>
              </a:rPr>
              <a:t>📚</a:t>
            </a:r>
          </a:p>
        </p:txBody>
      </p:sp>
      <p:sp>
        <p:nvSpPr>
          <p:cNvPr id="7" name="TextBox 6"/>
          <p:cNvSpPr txBox="1"/>
          <p:nvPr/>
        </p:nvSpPr>
        <p:spPr>
          <a:xfrm>
            <a:off x="1691640" y="3246120"/>
            <a:ext cx="9509760" cy="1005840"/>
          </a:xfrm>
          <a:prstGeom prst="rect">
            <a:avLst/>
          </a:prstGeom>
          <a:noFill/>
        </p:spPr>
        <p:txBody>
          <a:bodyPr wrap="square" lIns="0" tIns="0" rIns="0" bIns="0" anchor="ctr">
            <a:spAutoFit/>
          </a:bodyPr>
          <a:lstStyle/>
          <a:p>
            <a:pPr algn="l"/>
            <a:r>
              <a:rPr sz="1750" b="0" i="0">
                <a:solidFill>
                  <a:srgbClr val="1F2430"/>
                </a:solidFill>
                <a:latin typeface="Arial"/>
              </a:rPr>
              <a:t>Committees review hundreds of applications per cycle under time pressure — screening drifts from file to file.</a:t>
            </a:r>
          </a:p>
        </p:txBody>
      </p:sp>
      <p:sp>
        <p:nvSpPr>
          <p:cNvPr id="8" name="Rounded Rectangle 7"/>
          <p:cNvSpPr/>
          <p:nvPr/>
        </p:nvSpPr>
        <p:spPr>
          <a:xfrm>
            <a:off x="640080" y="4416552"/>
            <a:ext cx="10881360" cy="1005840"/>
          </a:xfrm>
          <a:prstGeom prst="roundRect">
            <a:avLst>
              <a:gd name="adj" fmla="val 9090"/>
            </a:avLst>
          </a:prstGeom>
          <a:solidFill>
            <a:srgbClr val="F4F5F7"/>
          </a:solidFill>
          <a:ln>
            <a:noFill/>
          </a:ln>
          <a:effectLst/>
        </p:spPr>
        <p:txBody>
          <a:bodyPr rtlCol="0" anchor="ctr"/>
          <a:lstStyle/>
          <a:p>
            <a:pPr algn="ctr"/>
            <a:endParaRPr/>
          </a:p>
        </p:txBody>
      </p:sp>
      <p:sp>
        <p:nvSpPr>
          <p:cNvPr id="9" name="TextBox 8"/>
          <p:cNvSpPr txBox="1"/>
          <p:nvPr/>
        </p:nvSpPr>
        <p:spPr>
          <a:xfrm>
            <a:off x="868680" y="4416552"/>
            <a:ext cx="822960" cy="1005840"/>
          </a:xfrm>
          <a:prstGeom prst="rect">
            <a:avLst/>
          </a:prstGeom>
          <a:noFill/>
        </p:spPr>
        <p:txBody>
          <a:bodyPr wrap="square" lIns="0" tIns="0" rIns="0" bIns="0" anchor="ctr">
            <a:spAutoFit/>
          </a:bodyPr>
          <a:lstStyle/>
          <a:p>
            <a:pPr algn="l"/>
            <a:r>
              <a:rPr sz="2800" b="0" i="0">
                <a:solidFill>
                  <a:srgbClr val="1F2430"/>
                </a:solidFill>
                <a:latin typeface="Arial"/>
              </a:rPr>
              <a:t>✂️</a:t>
            </a:r>
          </a:p>
        </p:txBody>
      </p:sp>
      <p:sp>
        <p:nvSpPr>
          <p:cNvPr id="10" name="TextBox 9"/>
          <p:cNvSpPr txBox="1"/>
          <p:nvPr/>
        </p:nvSpPr>
        <p:spPr>
          <a:xfrm>
            <a:off x="1691640" y="4416552"/>
            <a:ext cx="9509760" cy="1005840"/>
          </a:xfrm>
          <a:prstGeom prst="rect">
            <a:avLst/>
          </a:prstGeom>
          <a:noFill/>
        </p:spPr>
        <p:txBody>
          <a:bodyPr wrap="square" lIns="0" tIns="0" rIns="0" bIns="0" anchor="ctr">
            <a:spAutoFit/>
          </a:bodyPr>
          <a:lstStyle/>
          <a:p>
            <a:pPr algn="l"/>
            <a:r>
              <a:rPr sz="1750" b="0" i="0">
                <a:solidFill>
                  <a:srgbClr val="1F2430"/>
                </a:solidFill>
                <a:latin typeface="Arial"/>
              </a:rPr>
              <a:t>A single GPA or GRE cutoff ignores how statement and letter strength interact with test scores.</a:t>
            </a:r>
          </a:p>
        </p:txBody>
      </p:sp>
      <p:sp>
        <p:nvSpPr>
          <p:cNvPr id="11" name="Rounded Rectangle 10"/>
          <p:cNvSpPr/>
          <p:nvPr/>
        </p:nvSpPr>
        <p:spPr>
          <a:xfrm>
            <a:off x="640080" y="5586984"/>
            <a:ext cx="10881360" cy="1005840"/>
          </a:xfrm>
          <a:prstGeom prst="roundRect">
            <a:avLst>
              <a:gd name="adj" fmla="val 9090"/>
            </a:avLst>
          </a:prstGeom>
          <a:solidFill>
            <a:srgbClr val="F4F5F7"/>
          </a:solidFill>
          <a:ln>
            <a:noFill/>
          </a:ln>
          <a:effectLst/>
        </p:spPr>
        <p:txBody>
          <a:bodyPr rtlCol="0" anchor="ctr"/>
          <a:lstStyle/>
          <a:p>
            <a:pPr algn="ctr"/>
            <a:endParaRPr/>
          </a:p>
        </p:txBody>
      </p:sp>
      <p:sp>
        <p:nvSpPr>
          <p:cNvPr id="12" name="TextBox 11"/>
          <p:cNvSpPr txBox="1"/>
          <p:nvPr/>
        </p:nvSpPr>
        <p:spPr>
          <a:xfrm>
            <a:off x="868680" y="5586984"/>
            <a:ext cx="822960" cy="1005840"/>
          </a:xfrm>
          <a:prstGeom prst="rect">
            <a:avLst/>
          </a:prstGeom>
          <a:noFill/>
        </p:spPr>
        <p:txBody>
          <a:bodyPr wrap="square" lIns="0" tIns="0" rIns="0" bIns="0" anchor="ctr">
            <a:spAutoFit/>
          </a:bodyPr>
          <a:lstStyle/>
          <a:p>
            <a:pPr algn="l"/>
            <a:r>
              <a:rPr sz="2800" b="0" i="0">
                <a:solidFill>
                  <a:srgbClr val="1F2430"/>
                </a:solidFill>
                <a:latin typeface="Arial"/>
              </a:rPr>
              <a:t>🎯</a:t>
            </a:r>
          </a:p>
        </p:txBody>
      </p:sp>
      <p:sp>
        <p:nvSpPr>
          <p:cNvPr id="13" name="TextBox 12"/>
          <p:cNvSpPr txBox="1"/>
          <p:nvPr/>
        </p:nvSpPr>
        <p:spPr>
          <a:xfrm>
            <a:off x="1691640" y="5586984"/>
            <a:ext cx="9509760" cy="1005840"/>
          </a:xfrm>
          <a:prstGeom prst="rect">
            <a:avLst/>
          </a:prstGeom>
          <a:noFill/>
        </p:spPr>
        <p:txBody>
          <a:bodyPr wrap="square" lIns="0" tIns="0" rIns="0" bIns="0" anchor="ctr">
            <a:spAutoFit/>
          </a:bodyPr>
          <a:lstStyle/>
          <a:p>
            <a:pPr algn="l"/>
            <a:r>
              <a:rPr sz="1750" b="0" i="0">
                <a:solidFill>
                  <a:srgbClr val="1F2430"/>
                </a:solidFill>
                <a:latin typeface="Arial"/>
              </a:rPr>
              <a:t>A model-based screen lets reviewers spend attention on the borderline cases instead of re-reading every file equally.</a:t>
            </a:r>
          </a:p>
        </p:txBody>
      </p:sp>
      <p:sp>
        <p:nvSpPr>
          <p:cNvPr id="14" name="TextBox 13"/>
          <p:cNvSpPr txBox="1"/>
          <p:nvPr/>
        </p:nvSpPr>
        <p:spPr>
          <a:xfrm>
            <a:off x="11274552" y="6355080"/>
            <a:ext cx="548640" cy="320040"/>
          </a:xfrm>
          <a:prstGeom prst="rect">
            <a:avLst/>
          </a:prstGeom>
          <a:noFill/>
        </p:spPr>
        <p:txBody>
          <a:bodyPr wrap="square" lIns="0" tIns="0" rIns="0" bIns="0" anchor="ctr">
            <a:spAutoFit/>
          </a:bodyPr>
          <a:lstStyle/>
          <a:p>
            <a:pPr algn="r"/>
            <a:r>
              <a:rPr sz="1100" b="0" i="0">
                <a:solidFill>
                  <a:srgbClr val="6B7280"/>
                </a:solidFill>
                <a:latin typeface="Arial"/>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1463040" y="4206240"/>
            <a:ext cx="5029200" cy="5029200"/>
          </a:xfrm>
          <a:prstGeom prst="ellipse">
            <a:avLst/>
          </a:prstGeom>
          <a:solidFill>
            <a:srgbClr val="3A4A6B">
              <a:alpha val="60000"/>
            </a:srgbClr>
          </a:solidFill>
          <a:ln>
            <a:noFill/>
          </a:ln>
          <a:effectLst/>
        </p:spPr>
        <p:txBody>
          <a:bodyPr rtlCol="0" anchor="ctr"/>
          <a:lstStyle/>
          <a:p>
            <a:pPr algn="ctr"/>
            <a:endParaRPr/>
          </a:p>
        </p:txBody>
      </p:sp>
      <p:sp>
        <p:nvSpPr>
          <p:cNvPr id="3" name="Oval 2"/>
          <p:cNvSpPr/>
          <p:nvPr/>
        </p:nvSpPr>
        <p:spPr>
          <a:xfrm>
            <a:off x="9875520" y="-1645920"/>
            <a:ext cx="4754880" cy="4754880"/>
          </a:xfrm>
          <a:prstGeom prst="ellipse">
            <a:avLst/>
          </a:prstGeom>
          <a:solidFill>
            <a:srgbClr val="3A4A6B">
              <a:alpha val="60000"/>
            </a:srgbClr>
          </a:solidFill>
          <a:ln>
            <a:noFill/>
          </a:ln>
          <a:effectLst/>
        </p:spPr>
        <p:txBody>
          <a:bodyPr rtlCol="0" anchor="ctr"/>
          <a:lstStyle/>
          <a:p>
            <a:pPr algn="ctr"/>
            <a:endParaRPr/>
          </a:p>
        </p:txBody>
      </p:sp>
      <p:sp>
        <p:nvSpPr>
          <p:cNvPr id="4" name="TextBox 3"/>
          <p:cNvSpPr txBox="1"/>
          <p:nvPr/>
        </p:nvSpPr>
        <p:spPr>
          <a:xfrm>
            <a:off x="640080" y="502920"/>
            <a:ext cx="8229600" cy="365760"/>
          </a:xfrm>
          <a:prstGeom prst="rect">
            <a:avLst/>
          </a:prstGeom>
          <a:noFill/>
        </p:spPr>
        <p:txBody>
          <a:bodyPr wrap="square" lIns="0" tIns="0" rIns="0" bIns="0" anchor="ctr">
            <a:spAutoFit/>
          </a:bodyPr>
          <a:lstStyle/>
          <a:p>
            <a:pPr algn="l"/>
            <a:r>
              <a:rPr sz="1300" b="1" i="0" spc="200">
                <a:solidFill>
                  <a:srgbClr val="FF9F1C"/>
                </a:solidFill>
                <a:latin typeface="Arial"/>
              </a:rPr>
              <a:t>THE DATA</a:t>
            </a:r>
          </a:p>
        </p:txBody>
      </p:sp>
      <p:sp>
        <p:nvSpPr>
          <p:cNvPr id="5" name="TextBox 4"/>
          <p:cNvSpPr txBox="1"/>
          <p:nvPr/>
        </p:nvSpPr>
        <p:spPr>
          <a:xfrm>
            <a:off x="594360" y="914400"/>
            <a:ext cx="9144000" cy="822960"/>
          </a:xfrm>
          <a:prstGeom prst="rect">
            <a:avLst/>
          </a:prstGeom>
          <a:noFill/>
        </p:spPr>
        <p:txBody>
          <a:bodyPr wrap="square" lIns="0" tIns="0" rIns="0" bIns="0" anchor="ctr">
            <a:spAutoFit/>
          </a:bodyPr>
          <a:lstStyle/>
          <a:p>
            <a:pPr algn="l">
              <a:lnSpc>
                <a:spcPct val="105000"/>
              </a:lnSpc>
            </a:pPr>
            <a:r>
              <a:rPr sz="3400" b="1" i="0">
                <a:solidFill>
                  <a:srgbClr val="FFFFFF"/>
                </a:solidFill>
                <a:latin typeface="Arial"/>
              </a:rPr>
              <a:t>500 Applicants, One Fuzzy Target</a:t>
            </a:r>
          </a:p>
        </p:txBody>
      </p:sp>
      <p:sp>
        <p:nvSpPr>
          <p:cNvPr id="6" name="TextBox 5"/>
          <p:cNvSpPr txBox="1"/>
          <p:nvPr/>
        </p:nvSpPr>
        <p:spPr>
          <a:xfrm>
            <a:off x="640080" y="1600200"/>
            <a:ext cx="8686800" cy="457200"/>
          </a:xfrm>
          <a:prstGeom prst="rect">
            <a:avLst/>
          </a:prstGeom>
          <a:noFill/>
        </p:spPr>
        <p:txBody>
          <a:bodyPr wrap="square" lIns="0" tIns="0" rIns="0" bIns="0" anchor="ctr">
            <a:spAutoFit/>
          </a:bodyPr>
          <a:lstStyle/>
          <a:p>
            <a:pPr algn="l"/>
            <a:r>
              <a:rPr sz="1700" b="0" i="0">
                <a:solidFill>
                  <a:srgbClr val="C7CCDA"/>
                </a:solidFill>
                <a:latin typeface="Arial"/>
              </a:rPr>
              <a:t>Nobody handed us a yes/no label — we had to draw the line ourselves.</a:t>
            </a:r>
          </a:p>
        </p:txBody>
      </p:sp>
      <p:sp>
        <p:nvSpPr>
          <p:cNvPr id="7" name="TextBox 6"/>
          <p:cNvSpPr txBox="1"/>
          <p:nvPr/>
        </p:nvSpPr>
        <p:spPr>
          <a:xfrm>
            <a:off x="548640" y="2514600"/>
            <a:ext cx="6400800" cy="1920240"/>
          </a:xfrm>
          <a:prstGeom prst="rect">
            <a:avLst/>
          </a:prstGeom>
          <a:noFill/>
        </p:spPr>
        <p:txBody>
          <a:bodyPr wrap="square" lIns="0" tIns="0" rIns="0" bIns="0" anchor="ctr">
            <a:spAutoFit/>
          </a:bodyPr>
          <a:lstStyle/>
          <a:p>
            <a:pPr algn="l"/>
            <a:r>
              <a:rPr sz="11800" b="1" i="0">
                <a:solidFill>
                  <a:srgbClr val="FF9F1C"/>
                </a:solidFill>
                <a:latin typeface="Arial"/>
              </a:rPr>
              <a:t>31%</a:t>
            </a:r>
          </a:p>
        </p:txBody>
      </p:sp>
      <p:sp>
        <p:nvSpPr>
          <p:cNvPr id="8" name="TextBox 7"/>
          <p:cNvSpPr txBox="1"/>
          <p:nvPr/>
        </p:nvSpPr>
        <p:spPr>
          <a:xfrm>
            <a:off x="685800" y="4389120"/>
            <a:ext cx="5760720" cy="548640"/>
          </a:xfrm>
          <a:prstGeom prst="rect">
            <a:avLst/>
          </a:prstGeom>
          <a:noFill/>
        </p:spPr>
        <p:txBody>
          <a:bodyPr wrap="square" lIns="0" tIns="0" rIns="0" bIns="0" anchor="ctr">
            <a:spAutoFit/>
          </a:bodyPr>
          <a:lstStyle/>
          <a:p>
            <a:pPr algn="l"/>
            <a:r>
              <a:rPr sz="1700" b="0" i="0">
                <a:solidFill>
                  <a:srgbClr val="FFFFFF"/>
                </a:solidFill>
                <a:latin typeface="Arial"/>
              </a:rPr>
              <a:t>of applicants are labeled “likely admitted”</a:t>
            </a:r>
          </a:p>
        </p:txBody>
      </p:sp>
      <p:sp>
        <p:nvSpPr>
          <p:cNvPr id="9" name="TextBox 8"/>
          <p:cNvSpPr txBox="1"/>
          <p:nvPr/>
        </p:nvSpPr>
        <p:spPr>
          <a:xfrm>
            <a:off x="685800" y="4892040"/>
            <a:ext cx="6035040" cy="685800"/>
          </a:xfrm>
          <a:prstGeom prst="rect">
            <a:avLst/>
          </a:prstGeom>
          <a:noFill/>
        </p:spPr>
        <p:txBody>
          <a:bodyPr wrap="square" lIns="0" tIns="0" rIns="0" bIns="0" anchor="ctr">
            <a:spAutoFit/>
          </a:bodyPr>
          <a:lstStyle/>
          <a:p>
            <a:pPr algn="l"/>
            <a:r>
              <a:rPr sz="1250" b="0" i="1">
                <a:solidFill>
                  <a:srgbClr val="AEB6CC"/>
                </a:solidFill>
                <a:latin typeface="Arial"/>
              </a:rPr>
              <a:t>155 of 500. Admit_Chance is a continuous probability, so we binarized it at ≥ 0.8 — that cutoff is our modeling choice, not an official one.</a:t>
            </a:r>
          </a:p>
        </p:txBody>
      </p:sp>
      <p:sp>
        <p:nvSpPr>
          <p:cNvPr id="10" name="Rounded Rectangle 9"/>
          <p:cNvSpPr/>
          <p:nvPr/>
        </p:nvSpPr>
        <p:spPr>
          <a:xfrm>
            <a:off x="7818120" y="2468880"/>
            <a:ext cx="3703320" cy="2514600"/>
          </a:xfrm>
          <a:prstGeom prst="roundRect">
            <a:avLst>
              <a:gd name="adj" fmla="val 4363"/>
            </a:avLst>
          </a:prstGeom>
          <a:solidFill>
            <a:srgbClr val="1E2B4F"/>
          </a:solidFill>
          <a:ln>
            <a:noFill/>
          </a:ln>
          <a:effectLst/>
        </p:spPr>
        <p:txBody>
          <a:bodyPr rtlCol="0" anchor="ctr"/>
          <a:lstStyle/>
          <a:p>
            <a:pPr algn="ctr"/>
            <a:endParaRPr/>
          </a:p>
        </p:txBody>
      </p:sp>
      <p:sp>
        <p:nvSpPr>
          <p:cNvPr id="11" name="TextBox 10"/>
          <p:cNvSpPr txBox="1"/>
          <p:nvPr/>
        </p:nvSpPr>
        <p:spPr>
          <a:xfrm>
            <a:off x="8092440" y="2670048"/>
            <a:ext cx="3291840" cy="502920"/>
          </a:xfrm>
          <a:prstGeom prst="rect">
            <a:avLst/>
          </a:prstGeom>
          <a:noFill/>
        </p:spPr>
        <p:txBody>
          <a:bodyPr wrap="square" lIns="0" tIns="0" rIns="0" bIns="0" anchor="ctr">
            <a:spAutoFit/>
          </a:bodyPr>
          <a:lstStyle/>
          <a:p>
            <a:pPr algn="l"/>
            <a:r>
              <a:rPr sz="1650" b="1" i="0">
                <a:solidFill>
                  <a:srgbClr val="FFFFFF"/>
                </a:solidFill>
                <a:latin typeface="Arial"/>
              </a:rPr>
              <a:t>🎓  GRE · TOEFL · CGPA</a:t>
            </a:r>
          </a:p>
        </p:txBody>
      </p:sp>
      <p:sp>
        <p:nvSpPr>
          <p:cNvPr id="12" name="TextBox 11"/>
          <p:cNvSpPr txBox="1"/>
          <p:nvPr/>
        </p:nvSpPr>
        <p:spPr>
          <a:xfrm>
            <a:off x="8092440" y="3200400"/>
            <a:ext cx="3291840" cy="502920"/>
          </a:xfrm>
          <a:prstGeom prst="rect">
            <a:avLst/>
          </a:prstGeom>
          <a:noFill/>
        </p:spPr>
        <p:txBody>
          <a:bodyPr wrap="square" lIns="0" tIns="0" rIns="0" bIns="0" anchor="ctr">
            <a:spAutoFit/>
          </a:bodyPr>
          <a:lstStyle/>
          <a:p>
            <a:pPr algn="l"/>
            <a:r>
              <a:rPr sz="1650" b="1" i="0">
                <a:solidFill>
                  <a:srgbClr val="FFFFFF"/>
                </a:solidFill>
                <a:latin typeface="Arial"/>
              </a:rPr>
              <a:t>📝  SOP · LOR · Rating</a:t>
            </a:r>
          </a:p>
        </p:txBody>
      </p:sp>
      <p:sp>
        <p:nvSpPr>
          <p:cNvPr id="13" name="TextBox 12"/>
          <p:cNvSpPr txBox="1"/>
          <p:nvPr/>
        </p:nvSpPr>
        <p:spPr>
          <a:xfrm>
            <a:off x="8092440" y="3730752"/>
            <a:ext cx="3291840" cy="502920"/>
          </a:xfrm>
          <a:prstGeom prst="rect">
            <a:avLst/>
          </a:prstGeom>
          <a:noFill/>
        </p:spPr>
        <p:txBody>
          <a:bodyPr wrap="square" lIns="0" tIns="0" rIns="0" bIns="0" anchor="ctr">
            <a:spAutoFit/>
          </a:bodyPr>
          <a:lstStyle/>
          <a:p>
            <a:pPr algn="l"/>
            <a:r>
              <a:rPr sz="1650" b="1" i="0">
                <a:solidFill>
                  <a:srgbClr val="FFFFFF"/>
                </a:solidFill>
                <a:latin typeface="Arial"/>
              </a:rPr>
              <a:t>🔬  Research (yes / no)</a:t>
            </a:r>
          </a:p>
        </p:txBody>
      </p:sp>
      <p:sp>
        <p:nvSpPr>
          <p:cNvPr id="14" name="TextBox 13"/>
          <p:cNvSpPr txBox="1"/>
          <p:nvPr/>
        </p:nvSpPr>
        <p:spPr>
          <a:xfrm>
            <a:off x="8092440" y="4297680"/>
            <a:ext cx="3246120" cy="640080"/>
          </a:xfrm>
          <a:prstGeom prst="rect">
            <a:avLst/>
          </a:prstGeom>
          <a:noFill/>
        </p:spPr>
        <p:txBody>
          <a:bodyPr wrap="square" lIns="0" tIns="0" rIns="0" bIns="0" anchor="ctr">
            <a:spAutoFit/>
          </a:bodyPr>
          <a:lstStyle/>
          <a:p>
            <a:pPr algn="l"/>
            <a:r>
              <a:rPr sz="1200" b="0" i="0">
                <a:solidFill>
                  <a:srgbClr val="AEB6CC"/>
                </a:solidFill>
                <a:latin typeface="Arial"/>
              </a:rPr>
              <a:t>9 raw fields → Serial_No dropped, rating and research one-hot encoded → 12 model features. Zero missing values.</a:t>
            </a:r>
          </a:p>
        </p:txBody>
      </p:sp>
      <p:sp>
        <p:nvSpPr>
          <p:cNvPr id="15" name="TextBox 14"/>
          <p:cNvSpPr txBox="1"/>
          <p:nvPr/>
        </p:nvSpPr>
        <p:spPr>
          <a:xfrm>
            <a:off x="11274552" y="6355080"/>
            <a:ext cx="548640" cy="320040"/>
          </a:xfrm>
          <a:prstGeom prst="rect">
            <a:avLst/>
          </a:prstGeom>
          <a:noFill/>
        </p:spPr>
        <p:txBody>
          <a:bodyPr wrap="square" lIns="0" tIns="0" rIns="0" bIns="0" anchor="ctr">
            <a:spAutoFit/>
          </a:bodyPr>
          <a:lstStyle/>
          <a:p>
            <a:pPr algn="r"/>
            <a:r>
              <a:rPr sz="1100" b="0" i="0">
                <a:solidFill>
                  <a:srgbClr val="6B7280"/>
                </a:solidFill>
                <a:latin typeface="Arial"/>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8229600" cy="365760"/>
          </a:xfrm>
          <a:prstGeom prst="rect">
            <a:avLst/>
          </a:prstGeom>
          <a:noFill/>
        </p:spPr>
        <p:txBody>
          <a:bodyPr wrap="square" lIns="0" tIns="0" rIns="0" bIns="0" anchor="ctr">
            <a:spAutoFit/>
          </a:bodyPr>
          <a:lstStyle/>
          <a:p>
            <a:pPr algn="l"/>
            <a:r>
              <a:rPr sz="1300" b="1" i="0" spc="200">
                <a:solidFill>
                  <a:srgbClr val="2EC4B6"/>
                </a:solidFill>
                <a:latin typeface="Arial"/>
              </a:rPr>
              <a:t>THE CONTEST</a:t>
            </a:r>
          </a:p>
        </p:txBody>
      </p:sp>
      <p:sp>
        <p:nvSpPr>
          <p:cNvPr id="3" name="TextBox 2"/>
          <p:cNvSpPr txBox="1"/>
          <p:nvPr/>
        </p:nvSpPr>
        <p:spPr>
          <a:xfrm>
            <a:off x="594360" y="914400"/>
            <a:ext cx="10881360" cy="822960"/>
          </a:xfrm>
          <a:prstGeom prst="rect">
            <a:avLst/>
          </a:prstGeom>
          <a:noFill/>
        </p:spPr>
        <p:txBody>
          <a:bodyPr wrap="square" lIns="0" tIns="0" rIns="0" bIns="0" anchor="ctr">
            <a:spAutoFit/>
          </a:bodyPr>
          <a:lstStyle/>
          <a:p>
            <a:pPr algn="l">
              <a:lnSpc>
                <a:spcPct val="105000"/>
              </a:lnSpc>
            </a:pPr>
            <a:r>
              <a:rPr sz="3300" b="1" i="0">
                <a:solidFill>
                  <a:srgbClr val="14213D"/>
                </a:solidFill>
                <a:latin typeface="Arial"/>
              </a:rPr>
              <a:t>Three Networks Walk Into an Admissions Office…</a:t>
            </a:r>
          </a:p>
        </p:txBody>
      </p:sp>
      <p:sp>
        <p:nvSpPr>
          <p:cNvPr id="4" name="TextBox 3"/>
          <p:cNvSpPr txBox="1"/>
          <p:nvPr/>
        </p:nvSpPr>
        <p:spPr>
          <a:xfrm>
            <a:off x="640080" y="1645920"/>
            <a:ext cx="9144000" cy="457200"/>
          </a:xfrm>
          <a:prstGeom prst="rect">
            <a:avLst/>
          </a:prstGeom>
          <a:noFill/>
        </p:spPr>
        <p:txBody>
          <a:bodyPr wrap="square" lIns="0" tIns="0" rIns="0" bIns="0" anchor="ctr">
            <a:spAutoFit/>
          </a:bodyPr>
          <a:lstStyle/>
          <a:p>
            <a:pPr algn="l"/>
            <a:r>
              <a:rPr sz="1800" b="0" i="1">
                <a:solidFill>
                  <a:srgbClr val="6B7280"/>
                </a:solidFill>
                <a:latin typeface="Arial"/>
              </a:rPr>
              <a:t>Same data, same split, same seed. Only the hidden layers change.</a:t>
            </a:r>
          </a:p>
        </p:txBody>
      </p:sp>
      <p:sp>
        <p:nvSpPr>
          <p:cNvPr id="5" name="Rounded Rectangle 4"/>
          <p:cNvSpPr/>
          <p:nvPr/>
        </p:nvSpPr>
        <p:spPr>
          <a:xfrm>
            <a:off x="3566160" y="2148840"/>
            <a:ext cx="5074920" cy="3566160"/>
          </a:xfrm>
          <a:prstGeom prst="roundRect">
            <a:avLst>
              <a:gd name="adj" fmla="val 2564"/>
            </a:avLst>
          </a:prstGeom>
          <a:solidFill>
            <a:srgbClr val="F4F5F7"/>
          </a:solidFill>
          <a:ln>
            <a:noFill/>
          </a:ln>
          <a:effectLst/>
        </p:spPr>
        <p:txBody>
          <a:bodyPr rtlCol="0" anchor="ctr"/>
          <a:lstStyle/>
          <a:p>
            <a:pPr algn="ctr"/>
            <a:endParaRPr/>
          </a:p>
        </p:txBody>
      </p:sp>
      <p:pic>
        <p:nvPicPr>
          <p:cNvPr id="6" name="Picture 5" descr="s5_0.jpg"/>
          <p:cNvPicPr>
            <a:picLocks noChangeAspect="1"/>
          </p:cNvPicPr>
          <p:nvPr/>
        </p:nvPicPr>
        <p:blipFill>
          <a:blip r:embed="rId3"/>
          <a:stretch>
            <a:fillRect/>
          </a:stretch>
        </p:blipFill>
        <p:spPr>
          <a:xfrm>
            <a:off x="3970020" y="2331720"/>
            <a:ext cx="4267199" cy="3200400"/>
          </a:xfrm>
          <a:prstGeom prst="rect">
            <a:avLst/>
          </a:prstGeom>
        </p:spPr>
      </p:pic>
      <p:sp>
        <p:nvSpPr>
          <p:cNvPr id="7" name="TextBox 6"/>
          <p:cNvSpPr txBox="1"/>
          <p:nvPr/>
        </p:nvSpPr>
        <p:spPr>
          <a:xfrm>
            <a:off x="1097280" y="5852160"/>
            <a:ext cx="10058400" cy="502920"/>
          </a:xfrm>
          <a:prstGeom prst="rect">
            <a:avLst/>
          </a:prstGeom>
          <a:noFill/>
        </p:spPr>
        <p:txBody>
          <a:bodyPr wrap="square" lIns="0" tIns="0" rIns="0" bIns="0" anchor="ctr">
            <a:spAutoFit/>
          </a:bodyPr>
          <a:lstStyle/>
          <a:p>
            <a:pPr algn="ctr"/>
            <a:r>
              <a:rPr sz="1800" b="0" i="0">
                <a:solidFill>
                  <a:srgbClr val="1F2430"/>
                </a:solidFill>
                <a:latin typeface="Arial"/>
              </a:rPr>
              <a:t>MLP_deep_8_4 (8 → 4 hidden units) wins — </a:t>
            </a:r>
            <a:r>
              <a:rPr sz="1800" b="1" i="0">
                <a:solidFill>
                  <a:srgbClr val="FF9F1C"/>
                </a:solidFill>
                <a:latin typeface="Arial"/>
              </a:rPr>
              <a:t>test accuracy 0.920</a:t>
            </a:r>
          </a:p>
        </p:txBody>
      </p:sp>
      <p:sp>
        <p:nvSpPr>
          <p:cNvPr id="8" name="TextBox 7"/>
          <p:cNvSpPr txBox="1"/>
          <p:nvPr/>
        </p:nvSpPr>
        <p:spPr>
          <a:xfrm>
            <a:off x="11274552" y="6355080"/>
            <a:ext cx="548640" cy="320040"/>
          </a:xfrm>
          <a:prstGeom prst="rect">
            <a:avLst/>
          </a:prstGeom>
          <a:noFill/>
        </p:spPr>
        <p:txBody>
          <a:bodyPr wrap="square" lIns="0" tIns="0" rIns="0" bIns="0" anchor="ctr">
            <a:spAutoFit/>
          </a:bodyPr>
          <a:lstStyle/>
          <a:p>
            <a:pPr algn="r"/>
            <a:r>
              <a:rPr sz="1100" b="0" i="0">
                <a:solidFill>
                  <a:srgbClr val="6B7280"/>
                </a:solidFill>
                <a:latin typeface="Arial"/>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8229600" cy="365760"/>
          </a:xfrm>
          <a:prstGeom prst="rect">
            <a:avLst/>
          </a:prstGeom>
          <a:noFill/>
        </p:spPr>
        <p:txBody>
          <a:bodyPr wrap="square" lIns="0" tIns="0" rIns="0" bIns="0" anchor="ctr">
            <a:spAutoFit/>
          </a:bodyPr>
          <a:lstStyle/>
          <a:p>
            <a:pPr algn="l"/>
            <a:r>
              <a:rPr sz="1300" b="1" i="0" spc="200">
                <a:solidFill>
                  <a:srgbClr val="E85D4C"/>
                </a:solidFill>
                <a:latin typeface="Arial"/>
              </a:rPr>
              <a:t>THE TWIST</a:t>
            </a:r>
          </a:p>
        </p:txBody>
      </p:sp>
      <p:sp>
        <p:nvSpPr>
          <p:cNvPr id="3" name="TextBox 2"/>
          <p:cNvSpPr txBox="1"/>
          <p:nvPr/>
        </p:nvSpPr>
        <p:spPr>
          <a:xfrm>
            <a:off x="594360" y="914400"/>
            <a:ext cx="10881360" cy="822960"/>
          </a:xfrm>
          <a:prstGeom prst="rect">
            <a:avLst/>
          </a:prstGeom>
          <a:noFill/>
        </p:spPr>
        <p:txBody>
          <a:bodyPr wrap="square" lIns="0" tIns="0" rIns="0" bIns="0" anchor="ctr">
            <a:spAutoFit/>
          </a:bodyPr>
          <a:lstStyle/>
          <a:p>
            <a:pPr algn="l">
              <a:lnSpc>
                <a:spcPct val="105000"/>
              </a:lnSpc>
            </a:pPr>
            <a:r>
              <a:rPr sz="3300" b="1" i="0">
                <a:solidFill>
                  <a:srgbClr val="14213D"/>
                </a:solidFill>
                <a:latin typeface="Arial"/>
              </a:rPr>
              <a:t>The Biggest Network Overfit the Least</a:t>
            </a:r>
          </a:p>
        </p:txBody>
      </p:sp>
      <p:sp>
        <p:nvSpPr>
          <p:cNvPr id="4" name="TextBox 3"/>
          <p:cNvSpPr txBox="1"/>
          <p:nvPr/>
        </p:nvSpPr>
        <p:spPr>
          <a:xfrm>
            <a:off x="640080" y="1645920"/>
            <a:ext cx="9144000" cy="457200"/>
          </a:xfrm>
          <a:prstGeom prst="rect">
            <a:avLst/>
          </a:prstGeom>
          <a:noFill/>
        </p:spPr>
        <p:txBody>
          <a:bodyPr wrap="square" lIns="0" tIns="0" rIns="0" bIns="0" anchor="ctr">
            <a:spAutoFit/>
          </a:bodyPr>
          <a:lstStyle/>
          <a:p>
            <a:pPr algn="l"/>
            <a:r>
              <a:rPr sz="1800" b="0" i="1">
                <a:solidFill>
                  <a:srgbClr val="6B7280"/>
                </a:solidFill>
                <a:latin typeface="Arial"/>
              </a:rPr>
              <a:t>tanh memorized the training set best — and still lost.</a:t>
            </a:r>
          </a:p>
        </p:txBody>
      </p:sp>
      <p:sp>
        <p:nvSpPr>
          <p:cNvPr id="5" name="Rounded Rectangle 4"/>
          <p:cNvSpPr/>
          <p:nvPr/>
        </p:nvSpPr>
        <p:spPr>
          <a:xfrm>
            <a:off x="640080" y="2148840"/>
            <a:ext cx="4206240" cy="3291840"/>
          </a:xfrm>
          <a:prstGeom prst="roundRect">
            <a:avLst>
              <a:gd name="adj" fmla="val 2777"/>
            </a:avLst>
          </a:prstGeom>
          <a:solidFill>
            <a:srgbClr val="F4F5F7"/>
          </a:solidFill>
          <a:ln>
            <a:noFill/>
          </a:ln>
          <a:effectLst/>
        </p:spPr>
        <p:txBody>
          <a:bodyPr rtlCol="0" anchor="ctr"/>
          <a:lstStyle/>
          <a:p>
            <a:pPr algn="ctr"/>
            <a:endParaRPr/>
          </a:p>
        </p:txBody>
      </p:sp>
      <p:graphicFrame>
        <p:nvGraphicFramePr>
          <p:cNvPr id="6" name="Table 5"/>
          <p:cNvGraphicFramePr>
            <a:graphicFrameLocks noGrp="1"/>
          </p:cNvGraphicFramePr>
          <p:nvPr/>
        </p:nvGraphicFramePr>
        <p:xfrm>
          <a:off x="777240" y="2377440"/>
          <a:ext cx="3931920" cy="2816352"/>
        </p:xfrm>
        <a:graphic>
          <a:graphicData uri="http://schemas.openxmlformats.org/drawingml/2006/table">
            <a:tbl>
              <a:tblPr firstRow="1" bandRow="1">
                <a:tableStyleId>{5C22544A-7EE6-4342-B048-85BDC9FD1C3A}</a:tableStyleId>
              </a:tblPr>
              <a:tblGrid>
                <a:gridCol w="1417320">
                  <a:extLst>
                    <a:ext uri="{9D8B030D-6E8A-4147-A177-3AD203B41FA5}">
                      <a16:colId xmlns:a16="http://schemas.microsoft.com/office/drawing/2014/main" val="20000"/>
                    </a:ext>
                  </a:extLst>
                </a:gridCol>
                <a:gridCol w="841248">
                  <a:extLst>
                    <a:ext uri="{9D8B030D-6E8A-4147-A177-3AD203B41FA5}">
                      <a16:colId xmlns:a16="http://schemas.microsoft.com/office/drawing/2014/main" val="20001"/>
                    </a:ext>
                  </a:extLst>
                </a:gridCol>
                <a:gridCol w="841248">
                  <a:extLst>
                    <a:ext uri="{9D8B030D-6E8A-4147-A177-3AD203B41FA5}">
                      <a16:colId xmlns:a16="http://schemas.microsoft.com/office/drawing/2014/main" val="20002"/>
                    </a:ext>
                  </a:extLst>
                </a:gridCol>
                <a:gridCol w="832104">
                  <a:extLst>
                    <a:ext uri="{9D8B030D-6E8A-4147-A177-3AD203B41FA5}">
                      <a16:colId xmlns:a16="http://schemas.microsoft.com/office/drawing/2014/main" val="20003"/>
                    </a:ext>
                  </a:extLst>
                </a:gridCol>
              </a:tblGrid>
              <a:tr h="566928">
                <a:tc>
                  <a:txBody>
                    <a:bodyPr/>
                    <a:lstStyle/>
                    <a:p>
                      <a:pPr algn="l"/>
                      <a:r>
                        <a:rPr sz="1150" b="1">
                          <a:solidFill>
                            <a:srgbClr val="FFFFFF"/>
                          </a:solidFill>
                          <a:latin typeface="Arial"/>
                        </a:rPr>
                        <a:t>Model</a:t>
                      </a:r>
                    </a:p>
                  </a:txBody>
                  <a:tcPr marL="73152" marR="54864" anchor="ctr">
                    <a:solidFill>
                      <a:srgbClr val="14213D"/>
                    </a:solidFill>
                  </a:tcPr>
                </a:tc>
                <a:tc>
                  <a:txBody>
                    <a:bodyPr/>
                    <a:lstStyle/>
                    <a:p>
                      <a:pPr algn="ctr"/>
                      <a:r>
                        <a:rPr sz="1150" b="1">
                          <a:solidFill>
                            <a:srgbClr val="FFFFFF"/>
                          </a:solidFill>
                          <a:latin typeface="Arial"/>
                        </a:rPr>
                        <a:t>Train</a:t>
                      </a:r>
                    </a:p>
                  </a:txBody>
                  <a:tcPr marL="73152" marR="54864" anchor="ctr">
                    <a:solidFill>
                      <a:srgbClr val="14213D"/>
                    </a:solidFill>
                  </a:tcPr>
                </a:tc>
                <a:tc>
                  <a:txBody>
                    <a:bodyPr/>
                    <a:lstStyle/>
                    <a:p>
                      <a:pPr algn="ctr"/>
                      <a:r>
                        <a:rPr sz="1150" b="1">
                          <a:solidFill>
                            <a:srgbClr val="FFFFFF"/>
                          </a:solidFill>
                          <a:latin typeface="Arial"/>
                        </a:rPr>
                        <a:t>Test</a:t>
                      </a:r>
                    </a:p>
                  </a:txBody>
                  <a:tcPr marL="73152" marR="54864" anchor="ctr">
                    <a:solidFill>
                      <a:srgbClr val="14213D"/>
                    </a:solidFill>
                  </a:tcPr>
                </a:tc>
                <a:tc>
                  <a:txBody>
                    <a:bodyPr/>
                    <a:lstStyle/>
                    <a:p>
                      <a:pPr algn="ctr"/>
                      <a:r>
                        <a:rPr sz="1150" b="1">
                          <a:solidFill>
                            <a:srgbClr val="FFFFFF"/>
                          </a:solidFill>
                          <a:latin typeface="Arial"/>
                        </a:rPr>
                        <a:t>CV Mean</a:t>
                      </a:r>
                    </a:p>
                  </a:txBody>
                  <a:tcPr marL="73152" marR="54864" anchor="ctr">
                    <a:solidFill>
                      <a:srgbClr val="14213D"/>
                    </a:solidFill>
                  </a:tcPr>
                </a:tc>
                <a:extLst>
                  <a:ext uri="{0D108BD9-81ED-4DB2-BD59-A6C34878D82A}">
                    <a16:rowId xmlns:a16="http://schemas.microsoft.com/office/drawing/2014/main" val="10000"/>
                  </a:ext>
                </a:extLst>
              </a:tr>
              <a:tr h="749808">
                <a:tc>
                  <a:txBody>
                    <a:bodyPr/>
                    <a:lstStyle/>
                    <a:p>
                      <a:pPr algn="l"/>
                      <a:r>
                        <a:rPr sz="1200" b="1">
                          <a:solidFill>
                            <a:srgbClr val="1F2430"/>
                          </a:solidFill>
                          <a:latin typeface="Arial"/>
                        </a:rPr>
                        <a:t>MLP_deep_8_4</a:t>
                      </a:r>
                    </a:p>
                  </a:txBody>
                  <a:tcPr marL="73152" marR="54864" anchor="ctr">
                    <a:solidFill>
                      <a:srgbClr val="FFFFFF"/>
                    </a:solidFill>
                  </a:tcPr>
                </a:tc>
                <a:tc>
                  <a:txBody>
                    <a:bodyPr/>
                    <a:lstStyle/>
                    <a:p>
                      <a:pPr algn="ctr"/>
                      <a:r>
                        <a:rPr sz="1200" b="1">
                          <a:solidFill>
                            <a:srgbClr val="1F2430"/>
                          </a:solidFill>
                          <a:latin typeface="Arial"/>
                        </a:rPr>
                        <a:t>0.935</a:t>
                      </a:r>
                    </a:p>
                  </a:txBody>
                  <a:tcPr marL="73152" marR="54864" anchor="ctr">
                    <a:solidFill>
                      <a:srgbClr val="FFFFFF"/>
                    </a:solidFill>
                  </a:tcPr>
                </a:tc>
                <a:tc>
                  <a:txBody>
                    <a:bodyPr/>
                    <a:lstStyle/>
                    <a:p>
                      <a:pPr algn="ctr"/>
                      <a:r>
                        <a:rPr sz="1200" b="1">
                          <a:solidFill>
                            <a:srgbClr val="FF9F1C"/>
                          </a:solidFill>
                          <a:latin typeface="Arial"/>
                        </a:rPr>
                        <a:t>0.920</a:t>
                      </a:r>
                    </a:p>
                  </a:txBody>
                  <a:tcPr marL="73152" marR="54864" anchor="ctr">
                    <a:solidFill>
                      <a:srgbClr val="FFFFFF"/>
                    </a:solidFill>
                  </a:tcPr>
                </a:tc>
                <a:tc>
                  <a:txBody>
                    <a:bodyPr/>
                    <a:lstStyle/>
                    <a:p>
                      <a:pPr algn="ctr"/>
                      <a:r>
                        <a:rPr sz="1200" b="1">
                          <a:solidFill>
                            <a:srgbClr val="1F2430"/>
                          </a:solidFill>
                          <a:latin typeface="Arial"/>
                        </a:rPr>
                        <a:t>0.9225</a:t>
                      </a:r>
                    </a:p>
                  </a:txBody>
                  <a:tcPr marL="73152" marR="54864" anchor="ctr">
                    <a:solidFill>
                      <a:srgbClr val="FFFFFF"/>
                    </a:solidFill>
                  </a:tcPr>
                </a:tc>
                <a:extLst>
                  <a:ext uri="{0D108BD9-81ED-4DB2-BD59-A6C34878D82A}">
                    <a16:rowId xmlns:a16="http://schemas.microsoft.com/office/drawing/2014/main" val="10001"/>
                  </a:ext>
                </a:extLst>
              </a:tr>
              <a:tr h="749808">
                <a:tc>
                  <a:txBody>
                    <a:bodyPr/>
                    <a:lstStyle/>
                    <a:p>
                      <a:pPr algn="l"/>
                      <a:r>
                        <a:rPr sz="1200" b="0">
                          <a:solidFill>
                            <a:srgbClr val="1F2430"/>
                          </a:solidFill>
                          <a:latin typeface="Arial"/>
                        </a:rPr>
                        <a:t>MLP_relu</a:t>
                      </a:r>
                    </a:p>
                  </a:txBody>
                  <a:tcPr marL="73152" marR="54864" anchor="ctr">
                    <a:solidFill>
                      <a:srgbClr val="F4F5F7"/>
                    </a:solidFill>
                  </a:tcPr>
                </a:tc>
                <a:tc>
                  <a:txBody>
                    <a:bodyPr/>
                    <a:lstStyle/>
                    <a:p>
                      <a:pPr algn="ctr"/>
                      <a:r>
                        <a:rPr sz="1200" b="0">
                          <a:solidFill>
                            <a:srgbClr val="1F2430"/>
                          </a:solidFill>
                          <a:latin typeface="Arial"/>
                        </a:rPr>
                        <a:t>0.9225</a:t>
                      </a:r>
                    </a:p>
                  </a:txBody>
                  <a:tcPr marL="73152" marR="54864" anchor="ctr">
                    <a:solidFill>
                      <a:srgbClr val="F4F5F7"/>
                    </a:solidFill>
                  </a:tcPr>
                </a:tc>
                <a:tc>
                  <a:txBody>
                    <a:bodyPr/>
                    <a:lstStyle/>
                    <a:p>
                      <a:pPr algn="ctr"/>
                      <a:r>
                        <a:rPr sz="1200" b="0">
                          <a:solidFill>
                            <a:srgbClr val="1F2430"/>
                          </a:solidFill>
                          <a:latin typeface="Arial"/>
                        </a:rPr>
                        <a:t>0.900</a:t>
                      </a:r>
                    </a:p>
                  </a:txBody>
                  <a:tcPr marL="73152" marR="54864" anchor="ctr">
                    <a:solidFill>
                      <a:srgbClr val="F4F5F7"/>
                    </a:solidFill>
                  </a:tcPr>
                </a:tc>
                <a:tc>
                  <a:txBody>
                    <a:bodyPr/>
                    <a:lstStyle/>
                    <a:p>
                      <a:pPr algn="ctr"/>
                      <a:r>
                        <a:rPr sz="1200" b="0">
                          <a:solidFill>
                            <a:srgbClr val="1F2430"/>
                          </a:solidFill>
                          <a:latin typeface="Arial"/>
                        </a:rPr>
                        <a:t>0.9125</a:t>
                      </a:r>
                    </a:p>
                  </a:txBody>
                  <a:tcPr marL="73152" marR="54864" anchor="ctr">
                    <a:solidFill>
                      <a:srgbClr val="F4F5F7"/>
                    </a:solidFill>
                  </a:tcPr>
                </a:tc>
                <a:extLst>
                  <a:ext uri="{0D108BD9-81ED-4DB2-BD59-A6C34878D82A}">
                    <a16:rowId xmlns:a16="http://schemas.microsoft.com/office/drawing/2014/main" val="10002"/>
                  </a:ext>
                </a:extLst>
              </a:tr>
              <a:tr h="749808">
                <a:tc>
                  <a:txBody>
                    <a:bodyPr/>
                    <a:lstStyle/>
                    <a:p>
                      <a:pPr algn="l"/>
                      <a:r>
                        <a:rPr sz="1200" b="0">
                          <a:solidFill>
                            <a:srgbClr val="1F2430"/>
                          </a:solidFill>
                          <a:latin typeface="Arial"/>
                        </a:rPr>
                        <a:t>MLP_tanh</a:t>
                      </a:r>
                    </a:p>
                  </a:txBody>
                  <a:tcPr marL="73152" marR="54864" anchor="ctr">
                    <a:solidFill>
                      <a:srgbClr val="FFFFFF"/>
                    </a:solidFill>
                  </a:tcPr>
                </a:tc>
                <a:tc>
                  <a:txBody>
                    <a:bodyPr/>
                    <a:lstStyle/>
                    <a:p>
                      <a:pPr algn="ctr"/>
                      <a:r>
                        <a:rPr sz="1200" b="0">
                          <a:solidFill>
                            <a:srgbClr val="1F2430"/>
                          </a:solidFill>
                          <a:latin typeface="Arial"/>
                        </a:rPr>
                        <a:t>0.940</a:t>
                      </a:r>
                    </a:p>
                  </a:txBody>
                  <a:tcPr marL="73152" marR="54864" anchor="ctr">
                    <a:solidFill>
                      <a:srgbClr val="FFFFFF"/>
                    </a:solidFill>
                  </a:tcPr>
                </a:tc>
                <a:tc>
                  <a:txBody>
                    <a:bodyPr/>
                    <a:lstStyle/>
                    <a:p>
                      <a:pPr algn="ctr"/>
                      <a:r>
                        <a:rPr sz="1200" b="0">
                          <a:solidFill>
                            <a:srgbClr val="1F2430"/>
                          </a:solidFill>
                          <a:latin typeface="Arial"/>
                        </a:rPr>
                        <a:t>0.900</a:t>
                      </a:r>
                    </a:p>
                  </a:txBody>
                  <a:tcPr marL="73152" marR="54864" anchor="ctr">
                    <a:solidFill>
                      <a:srgbClr val="FFFFFF"/>
                    </a:solidFill>
                  </a:tcPr>
                </a:tc>
                <a:tc>
                  <a:txBody>
                    <a:bodyPr/>
                    <a:lstStyle/>
                    <a:p>
                      <a:pPr algn="ctr"/>
                      <a:r>
                        <a:rPr sz="1200" b="0">
                          <a:solidFill>
                            <a:srgbClr val="1F2430"/>
                          </a:solidFill>
                          <a:latin typeface="Arial"/>
                        </a:rPr>
                        <a:t>0.9150</a:t>
                      </a:r>
                    </a:p>
                  </a:txBody>
                  <a:tcPr marL="73152" marR="54864" anchor="ctr">
                    <a:solidFill>
                      <a:srgbClr val="FFFFFF"/>
                    </a:solidFill>
                  </a:tcPr>
                </a:tc>
                <a:extLst>
                  <a:ext uri="{0D108BD9-81ED-4DB2-BD59-A6C34878D82A}">
                    <a16:rowId xmlns:a16="http://schemas.microsoft.com/office/drawing/2014/main" val="10003"/>
                  </a:ext>
                </a:extLst>
              </a:tr>
            </a:tbl>
          </a:graphicData>
        </a:graphic>
      </p:graphicFrame>
      <p:sp>
        <p:nvSpPr>
          <p:cNvPr id="7" name="Rounded Rectangle 6"/>
          <p:cNvSpPr/>
          <p:nvPr/>
        </p:nvSpPr>
        <p:spPr>
          <a:xfrm>
            <a:off x="5029200" y="2148840"/>
            <a:ext cx="6492240" cy="3291840"/>
          </a:xfrm>
          <a:prstGeom prst="roundRect">
            <a:avLst>
              <a:gd name="adj" fmla="val 2777"/>
            </a:avLst>
          </a:prstGeom>
          <a:solidFill>
            <a:srgbClr val="F4F5F7"/>
          </a:solidFill>
          <a:ln>
            <a:noFill/>
          </a:ln>
          <a:effectLst/>
        </p:spPr>
        <p:txBody>
          <a:bodyPr rtlCol="0" anchor="ctr"/>
          <a:lstStyle/>
          <a:p>
            <a:pPr algn="ctr"/>
            <a:endParaRPr/>
          </a:p>
        </p:txBody>
      </p:sp>
      <p:pic>
        <p:nvPicPr>
          <p:cNvPr id="8" name="Picture 7" descr="s5_1.jpg"/>
          <p:cNvPicPr>
            <a:picLocks noChangeAspect="1"/>
          </p:cNvPicPr>
          <p:nvPr/>
        </p:nvPicPr>
        <p:blipFill>
          <a:blip r:embed="rId3"/>
          <a:stretch>
            <a:fillRect/>
          </a:stretch>
        </p:blipFill>
        <p:spPr>
          <a:xfrm>
            <a:off x="5906588" y="2331720"/>
            <a:ext cx="4737462" cy="2926080"/>
          </a:xfrm>
          <a:prstGeom prst="rect">
            <a:avLst/>
          </a:prstGeom>
        </p:spPr>
      </p:pic>
      <p:sp>
        <p:nvSpPr>
          <p:cNvPr id="9" name="TextBox 8"/>
          <p:cNvSpPr txBox="1"/>
          <p:nvPr/>
        </p:nvSpPr>
        <p:spPr>
          <a:xfrm>
            <a:off x="640080" y="5623560"/>
            <a:ext cx="10881360" cy="777240"/>
          </a:xfrm>
          <a:prstGeom prst="rect">
            <a:avLst/>
          </a:prstGeom>
          <a:noFill/>
        </p:spPr>
        <p:txBody>
          <a:bodyPr wrap="square" lIns="0" tIns="0" rIns="0" bIns="0" anchor="ctr">
            <a:spAutoFit/>
          </a:bodyPr>
          <a:lstStyle/>
          <a:p>
            <a:pPr algn="ctr"/>
            <a:r>
              <a:rPr sz="1500" b="1" i="0">
                <a:solidFill>
                  <a:srgbClr val="1F2430"/>
                </a:solidFill>
                <a:latin typeface="Arial"/>
              </a:rPr>
              <a:t>Bonus twist: </a:t>
            </a:r>
            <a:r>
              <a:rPr sz="1500" b="0" i="0">
                <a:solidFill>
                  <a:srgbClr val="1F2430"/>
                </a:solidFill>
                <a:latin typeface="Arial"/>
              </a:rPr>
              <a:t>tanh has the highest train accuracy of the three (0.940) and the worst test accuracy (0.900). deep_8_4 is the largest network, yet its train–test gap is the smallest at just +0.015 — more capacity, less memorizing.</a:t>
            </a:r>
          </a:p>
        </p:txBody>
      </p:sp>
      <p:sp>
        <p:nvSpPr>
          <p:cNvPr id="10" name="TextBox 9"/>
          <p:cNvSpPr txBox="1"/>
          <p:nvPr/>
        </p:nvSpPr>
        <p:spPr>
          <a:xfrm>
            <a:off x="11274552" y="6355080"/>
            <a:ext cx="548640" cy="320040"/>
          </a:xfrm>
          <a:prstGeom prst="rect">
            <a:avLst/>
          </a:prstGeom>
          <a:noFill/>
        </p:spPr>
        <p:txBody>
          <a:bodyPr wrap="square" lIns="0" tIns="0" rIns="0" bIns="0" anchor="ctr">
            <a:spAutoFit/>
          </a:bodyPr>
          <a:lstStyle/>
          <a:p>
            <a:pPr algn="r"/>
            <a:r>
              <a:rPr sz="1100" b="0" i="0">
                <a:solidFill>
                  <a:srgbClr val="6B7280"/>
                </a:solidFill>
                <a:latin typeface="Arial"/>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Oval 1"/>
          <p:cNvSpPr/>
          <p:nvPr/>
        </p:nvSpPr>
        <p:spPr>
          <a:xfrm>
            <a:off x="10424160" y="6035040"/>
            <a:ext cx="4206240" cy="4206240"/>
          </a:xfrm>
          <a:prstGeom prst="ellipse">
            <a:avLst/>
          </a:prstGeom>
          <a:solidFill>
            <a:srgbClr val="3A4A6B">
              <a:alpha val="60000"/>
            </a:srgbClr>
          </a:solidFill>
          <a:ln>
            <a:noFill/>
          </a:ln>
          <a:effectLst/>
        </p:spPr>
        <p:txBody>
          <a:bodyPr rtlCol="0" anchor="ctr"/>
          <a:lstStyle/>
          <a:p>
            <a:pPr algn="ctr"/>
            <a:endParaRPr/>
          </a:p>
        </p:txBody>
      </p:sp>
      <p:sp>
        <p:nvSpPr>
          <p:cNvPr id="3" name="TextBox 2"/>
          <p:cNvSpPr txBox="1"/>
          <p:nvPr/>
        </p:nvSpPr>
        <p:spPr>
          <a:xfrm>
            <a:off x="640080" y="502920"/>
            <a:ext cx="8229600" cy="365760"/>
          </a:xfrm>
          <a:prstGeom prst="rect">
            <a:avLst/>
          </a:prstGeom>
          <a:noFill/>
        </p:spPr>
        <p:txBody>
          <a:bodyPr wrap="square" lIns="0" tIns="0" rIns="0" bIns="0" anchor="ctr">
            <a:spAutoFit/>
          </a:bodyPr>
          <a:lstStyle/>
          <a:p>
            <a:pPr algn="l"/>
            <a:r>
              <a:rPr sz="1300" b="1" i="0" spc="200">
                <a:solidFill>
                  <a:srgbClr val="FF9F1C"/>
                </a:solidFill>
                <a:latin typeface="Arial"/>
              </a:rPr>
              <a:t>THE BIG REVEAL</a:t>
            </a:r>
          </a:p>
        </p:txBody>
      </p:sp>
      <p:sp>
        <p:nvSpPr>
          <p:cNvPr id="4" name="TextBox 3"/>
          <p:cNvSpPr txBox="1"/>
          <p:nvPr/>
        </p:nvSpPr>
        <p:spPr>
          <a:xfrm>
            <a:off x="594360" y="914400"/>
            <a:ext cx="10881360" cy="822960"/>
          </a:xfrm>
          <a:prstGeom prst="rect">
            <a:avLst/>
          </a:prstGeom>
          <a:noFill/>
        </p:spPr>
        <p:txBody>
          <a:bodyPr wrap="square" lIns="0" tIns="0" rIns="0" bIns="0" anchor="ctr">
            <a:spAutoFit/>
          </a:bodyPr>
          <a:lstStyle/>
          <a:p>
            <a:pPr algn="l">
              <a:lnSpc>
                <a:spcPct val="105000"/>
              </a:lnSpc>
            </a:pPr>
            <a:r>
              <a:rPr sz="3400" b="1" i="0">
                <a:solidFill>
                  <a:srgbClr val="FFFFFF"/>
                </a:solidFill>
                <a:latin typeface="Arial"/>
              </a:rPr>
              <a:t>92 out of 100.</a:t>
            </a:r>
            <a:r>
              <a:rPr sz="3400" b="1" i="0">
                <a:solidFill>
                  <a:srgbClr val="FF9F1C"/>
                </a:solidFill>
                <a:latin typeface="Arial"/>
              </a:rPr>
              <a:t> And Both Sides Hold Up.</a:t>
            </a:r>
          </a:p>
        </p:txBody>
      </p:sp>
      <p:sp>
        <p:nvSpPr>
          <p:cNvPr id="5" name="TextBox 4"/>
          <p:cNvSpPr txBox="1"/>
          <p:nvPr/>
        </p:nvSpPr>
        <p:spPr>
          <a:xfrm>
            <a:off x="640080" y="1645920"/>
            <a:ext cx="9144000" cy="457200"/>
          </a:xfrm>
          <a:prstGeom prst="rect">
            <a:avLst/>
          </a:prstGeom>
          <a:noFill/>
        </p:spPr>
        <p:txBody>
          <a:bodyPr wrap="square" lIns="0" tIns="0" rIns="0" bIns="0" anchor="ctr">
            <a:spAutoFit/>
          </a:bodyPr>
          <a:lstStyle/>
          <a:p>
            <a:pPr algn="l"/>
            <a:r>
              <a:rPr sz="1700" b="0" i="1">
                <a:solidFill>
                  <a:srgbClr val="C7CCDA"/>
                </a:solidFill>
                <a:latin typeface="Arial"/>
              </a:rPr>
              <a:t>Four false alarms, four missed admits — the errors are symmetric.</a:t>
            </a:r>
          </a:p>
        </p:txBody>
      </p:sp>
      <p:sp>
        <p:nvSpPr>
          <p:cNvPr id="6" name="Rounded Rectangle 5"/>
          <p:cNvSpPr/>
          <p:nvPr/>
        </p:nvSpPr>
        <p:spPr>
          <a:xfrm>
            <a:off x="3977639" y="2240280"/>
            <a:ext cx="3977639" cy="3657600"/>
          </a:xfrm>
          <a:prstGeom prst="roundRect">
            <a:avLst>
              <a:gd name="adj" fmla="val 2500"/>
            </a:avLst>
          </a:prstGeom>
          <a:solidFill>
            <a:srgbClr val="FFFFFF"/>
          </a:solidFill>
          <a:ln>
            <a:noFill/>
          </a:ln>
          <a:effectLst/>
        </p:spPr>
        <p:txBody>
          <a:bodyPr rtlCol="0" anchor="ctr"/>
          <a:lstStyle/>
          <a:p>
            <a:pPr algn="ctr"/>
            <a:endParaRPr/>
          </a:p>
        </p:txBody>
      </p:sp>
      <p:pic>
        <p:nvPicPr>
          <p:cNvPr id="7" name="Picture 6" descr="s6_0.png"/>
          <p:cNvPicPr>
            <a:picLocks noChangeAspect="1"/>
          </p:cNvPicPr>
          <p:nvPr/>
        </p:nvPicPr>
        <p:blipFill>
          <a:blip r:embed="rId3"/>
          <a:stretch>
            <a:fillRect/>
          </a:stretch>
        </p:blipFill>
        <p:spPr>
          <a:xfrm>
            <a:off x="4206240" y="2423160"/>
            <a:ext cx="3520440" cy="3200400"/>
          </a:xfrm>
          <a:prstGeom prst="rect">
            <a:avLst/>
          </a:prstGeom>
        </p:spPr>
      </p:pic>
      <p:sp>
        <p:nvSpPr>
          <p:cNvPr id="8" name="TextBox 7"/>
          <p:cNvSpPr txBox="1"/>
          <p:nvPr/>
        </p:nvSpPr>
        <p:spPr>
          <a:xfrm>
            <a:off x="640080" y="2423160"/>
            <a:ext cx="3200400" cy="1143000"/>
          </a:xfrm>
          <a:prstGeom prst="rect">
            <a:avLst/>
          </a:prstGeom>
          <a:noFill/>
        </p:spPr>
        <p:txBody>
          <a:bodyPr wrap="square" lIns="0" tIns="0" rIns="0" bIns="0" anchor="t">
            <a:spAutoFit/>
          </a:bodyPr>
          <a:lstStyle/>
          <a:p>
            <a:pPr algn="l">
              <a:lnSpc>
                <a:spcPct val="130000"/>
              </a:lnSpc>
            </a:pPr>
            <a:r>
              <a:rPr sz="1400" b="1" i="0">
                <a:solidFill>
                  <a:srgbClr val="FFFFFF"/>
                </a:solidFill>
                <a:latin typeface="Arial"/>
              </a:rPr>
              <a:t>Precision / recall
0.94 / 0.94  unlikely
0.87 / 0.87  likely admitted</a:t>
            </a:r>
          </a:p>
        </p:txBody>
      </p:sp>
      <p:sp>
        <p:nvSpPr>
          <p:cNvPr id="9" name="TextBox 8"/>
          <p:cNvSpPr txBox="1"/>
          <p:nvPr/>
        </p:nvSpPr>
        <p:spPr>
          <a:xfrm>
            <a:off x="640080" y="3794760"/>
            <a:ext cx="3200400" cy="1143000"/>
          </a:xfrm>
          <a:prstGeom prst="rect">
            <a:avLst/>
          </a:prstGeom>
          <a:noFill/>
        </p:spPr>
        <p:txBody>
          <a:bodyPr wrap="square" lIns="0" tIns="0" rIns="0" bIns="0" anchor="t">
            <a:spAutoFit/>
          </a:bodyPr>
          <a:lstStyle/>
          <a:p>
            <a:pPr algn="l">
              <a:lnSpc>
                <a:spcPct val="130000"/>
              </a:lnSpc>
            </a:pPr>
            <a:r>
              <a:rPr sz="1400" b="1" i="0">
                <a:solidFill>
                  <a:srgbClr val="FF9F1C"/>
                </a:solidFill>
                <a:latin typeface="Arial"/>
              </a:rPr>
              <a:t>CGPA r = 0.74
TOEFL r = 0.70
GRE r = 0.68</a:t>
            </a:r>
          </a:p>
        </p:txBody>
      </p:sp>
      <p:sp>
        <p:nvSpPr>
          <p:cNvPr id="10" name="TextBox 9"/>
          <p:cNvSpPr txBox="1"/>
          <p:nvPr/>
        </p:nvSpPr>
        <p:spPr>
          <a:xfrm>
            <a:off x="640080" y="5166360"/>
            <a:ext cx="3200400" cy="822960"/>
          </a:xfrm>
          <a:prstGeom prst="rect">
            <a:avLst/>
          </a:prstGeom>
          <a:noFill/>
        </p:spPr>
        <p:txBody>
          <a:bodyPr wrap="square" lIns="0" tIns="0" rIns="0" bIns="0" anchor="ctr">
            <a:spAutoFit/>
          </a:bodyPr>
          <a:lstStyle/>
          <a:p>
            <a:pPr algn="l"/>
            <a:r>
              <a:rPr sz="1200" b="0" i="0">
                <a:solidFill>
                  <a:srgbClr val="AEB6CC"/>
                </a:solidFill>
                <a:latin typeface="Arial"/>
              </a:rPr>
              <a:t>SOP and LOR matter, but less. Train–test gap +0.015 — not meaningfully overfit.</a:t>
            </a:r>
          </a:p>
        </p:txBody>
      </p:sp>
      <p:sp>
        <p:nvSpPr>
          <p:cNvPr id="11" name="TextBox 10"/>
          <p:cNvSpPr txBox="1"/>
          <p:nvPr/>
        </p:nvSpPr>
        <p:spPr>
          <a:xfrm>
            <a:off x="8229600" y="2377440"/>
            <a:ext cx="3291840" cy="3291840"/>
          </a:xfrm>
          <a:prstGeom prst="rect">
            <a:avLst/>
          </a:prstGeom>
          <a:noFill/>
        </p:spPr>
        <p:txBody>
          <a:bodyPr wrap="square" lIns="0" tIns="0" rIns="0" bIns="0" anchor="t">
            <a:spAutoFit/>
          </a:bodyPr>
          <a:lstStyle/>
          <a:p>
            <a:pPr algn="l">
              <a:lnSpc>
                <a:spcPct val="115000"/>
              </a:lnSpc>
            </a:pPr>
            <a:r>
              <a:rPr sz="1500" b="1" i="0">
                <a:solidFill>
                  <a:srgbClr val="FFFFFF"/>
                </a:solidFill>
                <a:latin typeface="Arial"/>
              </a:rPr>
              <a:t>What the matrix says</a:t>
            </a:r>
          </a:p>
          <a:p>
            <a:pPr algn="l">
              <a:lnSpc>
                <a:spcPct val="115000"/>
              </a:lnSpc>
            </a:pPr>
            <a:r>
              <a:rPr sz="1350" b="0" i="0">
                <a:solidFill>
                  <a:srgbClr val="C7CCDA"/>
                </a:solidFill>
                <a:latin typeface="Arial"/>
              </a:rPr>
              <a:t>65 correctly flagged unlikely, 27 correctly flagged likely admitted.</a:t>
            </a:r>
          </a:p>
          <a:p>
            <a:pPr algn="l">
              <a:lnSpc>
                <a:spcPct val="115000"/>
              </a:lnSpc>
            </a:pPr>
            <a:r>
              <a:rPr sz="800" b="0" i="0">
                <a:solidFill>
                  <a:srgbClr val="C7CCDA"/>
                </a:solidFill>
                <a:latin typeface="Arial"/>
              </a:rPr>
              <a:t> </a:t>
            </a:r>
          </a:p>
          <a:p>
            <a:pPr algn="l">
              <a:lnSpc>
                <a:spcPct val="115000"/>
              </a:lnSpc>
            </a:pPr>
            <a:r>
              <a:rPr sz="1350" b="0" i="0">
                <a:solidFill>
                  <a:srgbClr val="C7CCDA"/>
                </a:solidFill>
                <a:latin typeface="Arial"/>
              </a:rPr>
              <a:t>4 false alarms — flagged likely, actually not.</a:t>
            </a:r>
          </a:p>
          <a:p>
            <a:pPr algn="l">
              <a:lnSpc>
                <a:spcPct val="115000"/>
              </a:lnSpc>
            </a:pPr>
            <a:r>
              <a:rPr sz="800" b="0" i="0">
                <a:solidFill>
                  <a:srgbClr val="C7CCDA"/>
                </a:solidFill>
                <a:latin typeface="Arial"/>
              </a:rPr>
              <a:t> </a:t>
            </a:r>
          </a:p>
          <a:p>
            <a:pPr algn="l">
              <a:lnSpc>
                <a:spcPct val="115000"/>
              </a:lnSpc>
            </a:pPr>
            <a:r>
              <a:rPr sz="1350" b="0" i="0">
                <a:solidFill>
                  <a:srgbClr val="C7CCDA"/>
                </a:solidFill>
                <a:latin typeface="Arial"/>
              </a:rPr>
              <a:t>4 missed admits — the costlier error for an applicant.</a:t>
            </a:r>
          </a:p>
          <a:p>
            <a:pPr algn="l">
              <a:lnSpc>
                <a:spcPct val="115000"/>
              </a:lnSpc>
            </a:pPr>
            <a:r>
              <a:rPr sz="800" b="0" i="0">
                <a:solidFill>
                  <a:srgbClr val="C7CCDA"/>
                </a:solidFill>
                <a:latin typeface="Arial"/>
              </a:rPr>
              <a:t> </a:t>
            </a:r>
          </a:p>
          <a:p>
            <a:pPr algn="l">
              <a:lnSpc>
                <a:spcPct val="115000"/>
              </a:lnSpc>
            </a:pPr>
            <a:r>
              <a:rPr sz="1200" b="0" i="0">
                <a:solidFill>
                  <a:srgbClr val="AEB6CC"/>
                </a:solidFill>
                <a:latin typeface="Arial"/>
              </a:rPr>
              <a:t>Balanced errors mean no hidden bias toward either verdict.</a:t>
            </a:r>
          </a:p>
        </p:txBody>
      </p:sp>
      <p:sp>
        <p:nvSpPr>
          <p:cNvPr id="12" name="TextBox 11"/>
          <p:cNvSpPr txBox="1"/>
          <p:nvPr/>
        </p:nvSpPr>
        <p:spPr>
          <a:xfrm>
            <a:off x="11274552" y="6355080"/>
            <a:ext cx="548640" cy="320040"/>
          </a:xfrm>
          <a:prstGeom prst="rect">
            <a:avLst/>
          </a:prstGeom>
          <a:noFill/>
        </p:spPr>
        <p:txBody>
          <a:bodyPr wrap="square" lIns="0" tIns="0" rIns="0" bIns="0" anchor="ctr">
            <a:spAutoFit/>
          </a:bodyPr>
          <a:lstStyle/>
          <a:p>
            <a:pPr algn="r"/>
            <a:r>
              <a:rPr sz="1100" b="0" i="0">
                <a:solidFill>
                  <a:srgbClr val="6B7280"/>
                </a:solidFill>
                <a:latin typeface="Arial"/>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8229600" cy="365760"/>
          </a:xfrm>
          <a:prstGeom prst="rect">
            <a:avLst/>
          </a:prstGeom>
          <a:noFill/>
        </p:spPr>
        <p:txBody>
          <a:bodyPr wrap="square" lIns="0" tIns="0" rIns="0" bIns="0" anchor="ctr">
            <a:spAutoFit/>
          </a:bodyPr>
          <a:lstStyle/>
          <a:p>
            <a:pPr algn="l"/>
            <a:r>
              <a:rPr sz="1300" b="1" i="0" spc="200">
                <a:solidFill>
                  <a:srgbClr val="E85D4C"/>
                </a:solidFill>
                <a:latin typeface="Arial"/>
              </a:rPr>
              <a:t>THE FINE PRINT</a:t>
            </a:r>
          </a:p>
        </p:txBody>
      </p:sp>
      <p:sp>
        <p:nvSpPr>
          <p:cNvPr id="3" name="TextBox 2"/>
          <p:cNvSpPr txBox="1"/>
          <p:nvPr/>
        </p:nvSpPr>
        <p:spPr>
          <a:xfrm>
            <a:off x="594360" y="914400"/>
            <a:ext cx="10881360" cy="822960"/>
          </a:xfrm>
          <a:prstGeom prst="rect">
            <a:avLst/>
          </a:prstGeom>
          <a:noFill/>
        </p:spPr>
        <p:txBody>
          <a:bodyPr wrap="square" lIns="0" tIns="0" rIns="0" bIns="0" anchor="ctr">
            <a:spAutoFit/>
          </a:bodyPr>
          <a:lstStyle/>
          <a:p>
            <a:pPr algn="l">
              <a:lnSpc>
                <a:spcPct val="105000"/>
              </a:lnSpc>
            </a:pPr>
            <a:r>
              <a:rPr sz="3300" b="1" i="0">
                <a:solidFill>
                  <a:srgbClr val="14213D"/>
                </a:solidFill>
                <a:latin typeface="Arial"/>
              </a:rPr>
              <a:t>Four Things This Model Is Not</a:t>
            </a:r>
          </a:p>
        </p:txBody>
      </p:sp>
      <p:sp>
        <p:nvSpPr>
          <p:cNvPr id="4" name="TextBox 3"/>
          <p:cNvSpPr txBox="1"/>
          <p:nvPr/>
        </p:nvSpPr>
        <p:spPr>
          <a:xfrm>
            <a:off x="640080" y="1645920"/>
            <a:ext cx="9144000" cy="457200"/>
          </a:xfrm>
          <a:prstGeom prst="rect">
            <a:avLst/>
          </a:prstGeom>
          <a:noFill/>
        </p:spPr>
        <p:txBody>
          <a:bodyPr wrap="square" lIns="0" tIns="0" rIns="0" bIns="0" anchor="ctr">
            <a:spAutoFit/>
          </a:bodyPr>
          <a:lstStyle/>
          <a:p>
            <a:pPr algn="l"/>
            <a:r>
              <a:rPr sz="1800" b="0" i="1">
                <a:solidFill>
                  <a:srgbClr val="6B7280"/>
                </a:solidFill>
                <a:latin typeface="Arial"/>
              </a:rPr>
              <a:t>Everything above is true. Here is exactly how far it goes.</a:t>
            </a:r>
          </a:p>
        </p:txBody>
      </p:sp>
      <p:sp>
        <p:nvSpPr>
          <p:cNvPr id="5" name="Rounded Rectangle 4"/>
          <p:cNvSpPr/>
          <p:nvPr/>
        </p:nvSpPr>
        <p:spPr>
          <a:xfrm>
            <a:off x="640080" y="2377440"/>
            <a:ext cx="10881360" cy="914400"/>
          </a:xfrm>
          <a:prstGeom prst="roundRect">
            <a:avLst>
              <a:gd name="adj" fmla="val 10000"/>
            </a:avLst>
          </a:prstGeom>
          <a:solidFill>
            <a:srgbClr val="F4F5F7"/>
          </a:solidFill>
          <a:ln>
            <a:noFill/>
          </a:ln>
          <a:effectLst/>
        </p:spPr>
        <p:txBody>
          <a:bodyPr rtlCol="0" anchor="ctr"/>
          <a:lstStyle/>
          <a:p>
            <a:pPr algn="ctr"/>
            <a:endParaRPr/>
          </a:p>
        </p:txBody>
      </p:sp>
      <p:sp>
        <p:nvSpPr>
          <p:cNvPr id="6" name="TextBox 5"/>
          <p:cNvSpPr txBox="1"/>
          <p:nvPr/>
        </p:nvSpPr>
        <p:spPr>
          <a:xfrm>
            <a:off x="868680" y="2377440"/>
            <a:ext cx="822960" cy="914400"/>
          </a:xfrm>
          <a:prstGeom prst="rect">
            <a:avLst/>
          </a:prstGeom>
          <a:noFill/>
        </p:spPr>
        <p:txBody>
          <a:bodyPr wrap="square" lIns="0" tIns="0" rIns="0" bIns="0" anchor="ctr">
            <a:spAutoFit/>
          </a:bodyPr>
          <a:lstStyle/>
          <a:p>
            <a:pPr algn="l"/>
            <a:r>
              <a:rPr sz="2600" b="0" i="0">
                <a:solidFill>
                  <a:srgbClr val="1F2430"/>
                </a:solidFill>
                <a:latin typeface="Arial"/>
              </a:rPr>
              <a:t>🏷️</a:t>
            </a:r>
          </a:p>
        </p:txBody>
      </p:sp>
      <p:sp>
        <p:nvSpPr>
          <p:cNvPr id="7" name="TextBox 6"/>
          <p:cNvSpPr txBox="1"/>
          <p:nvPr/>
        </p:nvSpPr>
        <p:spPr>
          <a:xfrm>
            <a:off x="1691640" y="2377440"/>
            <a:ext cx="9509760" cy="914400"/>
          </a:xfrm>
          <a:prstGeom prst="rect">
            <a:avLst/>
          </a:prstGeom>
          <a:noFill/>
        </p:spPr>
        <p:txBody>
          <a:bodyPr wrap="square" lIns="0" tIns="0" rIns="0" bIns="0" anchor="ctr">
            <a:spAutoFit/>
          </a:bodyPr>
          <a:lstStyle/>
          <a:p>
            <a:pPr algn="l"/>
            <a:r>
              <a:rPr sz="1550" b="1" i="0">
                <a:solidFill>
                  <a:srgbClr val="14213D"/>
                </a:solidFill>
                <a:latin typeface="Arial"/>
              </a:rPr>
              <a:t>Not a decision.  </a:t>
            </a:r>
            <a:r>
              <a:rPr sz="1550" b="0" i="0">
                <a:solidFill>
                  <a:srgbClr val="1F2430"/>
                </a:solidFill>
                <a:latin typeface="Arial"/>
              </a:rPr>
              <a:t>Admit_Chance is the dataset's estimated probability, and 0.8 is our cutoff — not an official threshold.</a:t>
            </a:r>
          </a:p>
        </p:txBody>
      </p:sp>
      <p:sp>
        <p:nvSpPr>
          <p:cNvPr id="8" name="Rounded Rectangle 7"/>
          <p:cNvSpPr/>
          <p:nvPr/>
        </p:nvSpPr>
        <p:spPr>
          <a:xfrm>
            <a:off x="640080" y="3383280"/>
            <a:ext cx="10881360" cy="914400"/>
          </a:xfrm>
          <a:prstGeom prst="roundRect">
            <a:avLst>
              <a:gd name="adj" fmla="val 10000"/>
            </a:avLst>
          </a:prstGeom>
          <a:solidFill>
            <a:srgbClr val="F4F5F7"/>
          </a:solidFill>
          <a:ln>
            <a:noFill/>
          </a:ln>
          <a:effectLst/>
        </p:spPr>
        <p:txBody>
          <a:bodyPr rtlCol="0" anchor="ctr"/>
          <a:lstStyle/>
          <a:p>
            <a:pPr algn="ctr"/>
            <a:endParaRPr/>
          </a:p>
        </p:txBody>
      </p:sp>
      <p:sp>
        <p:nvSpPr>
          <p:cNvPr id="9" name="TextBox 8"/>
          <p:cNvSpPr txBox="1"/>
          <p:nvPr/>
        </p:nvSpPr>
        <p:spPr>
          <a:xfrm>
            <a:off x="868680" y="3383280"/>
            <a:ext cx="822960" cy="914400"/>
          </a:xfrm>
          <a:prstGeom prst="rect">
            <a:avLst/>
          </a:prstGeom>
          <a:noFill/>
        </p:spPr>
        <p:txBody>
          <a:bodyPr wrap="square" lIns="0" tIns="0" rIns="0" bIns="0" anchor="ctr">
            <a:spAutoFit/>
          </a:bodyPr>
          <a:lstStyle/>
          <a:p>
            <a:pPr algn="l"/>
            <a:r>
              <a:rPr sz="2600" b="0" i="0">
                <a:solidFill>
                  <a:srgbClr val="1F2430"/>
                </a:solidFill>
                <a:latin typeface="Arial"/>
              </a:rPr>
              <a:t>🔀</a:t>
            </a:r>
          </a:p>
        </p:txBody>
      </p:sp>
      <p:sp>
        <p:nvSpPr>
          <p:cNvPr id="10" name="TextBox 9"/>
          <p:cNvSpPr txBox="1"/>
          <p:nvPr/>
        </p:nvSpPr>
        <p:spPr>
          <a:xfrm>
            <a:off x="1691640" y="3383280"/>
            <a:ext cx="9509760" cy="914400"/>
          </a:xfrm>
          <a:prstGeom prst="rect">
            <a:avLst/>
          </a:prstGeom>
          <a:noFill/>
        </p:spPr>
        <p:txBody>
          <a:bodyPr wrap="square" lIns="0" tIns="0" rIns="0" bIns="0" anchor="ctr">
            <a:spAutoFit/>
          </a:bodyPr>
          <a:lstStyle/>
          <a:p>
            <a:pPr algn="l"/>
            <a:r>
              <a:rPr sz="1550" b="1" i="0">
                <a:solidFill>
                  <a:srgbClr val="14213D"/>
                </a:solidFill>
                <a:latin typeface="Arial"/>
              </a:rPr>
              <a:t>Not the whole story.  </a:t>
            </a:r>
            <a:r>
              <a:rPr sz="1550" b="0" i="0">
                <a:solidFill>
                  <a:srgbClr val="1F2430"/>
                </a:solidFill>
                <a:latin typeface="Arial"/>
              </a:rPr>
              <a:t>The MLP combines all six inputs nonlinearly; the correlation ranking is a simplification of what it actually uses.</a:t>
            </a:r>
          </a:p>
        </p:txBody>
      </p:sp>
      <p:sp>
        <p:nvSpPr>
          <p:cNvPr id="11" name="Rounded Rectangle 10"/>
          <p:cNvSpPr/>
          <p:nvPr/>
        </p:nvSpPr>
        <p:spPr>
          <a:xfrm>
            <a:off x="640080" y="4389120"/>
            <a:ext cx="10881360" cy="914400"/>
          </a:xfrm>
          <a:prstGeom prst="roundRect">
            <a:avLst>
              <a:gd name="adj" fmla="val 10000"/>
            </a:avLst>
          </a:prstGeom>
          <a:solidFill>
            <a:srgbClr val="F4F5F7"/>
          </a:solidFill>
          <a:ln>
            <a:noFill/>
          </a:ln>
          <a:effectLst/>
        </p:spPr>
        <p:txBody>
          <a:bodyPr rtlCol="0" anchor="ctr"/>
          <a:lstStyle/>
          <a:p>
            <a:pPr algn="ctr"/>
            <a:endParaRPr/>
          </a:p>
        </p:txBody>
      </p:sp>
      <p:sp>
        <p:nvSpPr>
          <p:cNvPr id="12" name="TextBox 11"/>
          <p:cNvSpPr txBox="1"/>
          <p:nvPr/>
        </p:nvSpPr>
        <p:spPr>
          <a:xfrm>
            <a:off x="868680" y="4389120"/>
            <a:ext cx="822960" cy="914400"/>
          </a:xfrm>
          <a:prstGeom prst="rect">
            <a:avLst/>
          </a:prstGeom>
          <a:noFill/>
        </p:spPr>
        <p:txBody>
          <a:bodyPr wrap="square" lIns="0" tIns="0" rIns="0" bIns="0" anchor="ctr">
            <a:spAutoFit/>
          </a:bodyPr>
          <a:lstStyle/>
          <a:p>
            <a:pPr algn="l"/>
            <a:r>
              <a:rPr sz="2600" b="0" i="0">
                <a:solidFill>
                  <a:srgbClr val="1F2430"/>
                </a:solidFill>
                <a:latin typeface="Arial"/>
              </a:rPr>
              <a:t>📉</a:t>
            </a:r>
          </a:p>
        </p:txBody>
      </p:sp>
      <p:sp>
        <p:nvSpPr>
          <p:cNvPr id="13" name="TextBox 12"/>
          <p:cNvSpPr txBox="1"/>
          <p:nvPr/>
        </p:nvSpPr>
        <p:spPr>
          <a:xfrm>
            <a:off x="1691640" y="4389120"/>
            <a:ext cx="9509760" cy="914400"/>
          </a:xfrm>
          <a:prstGeom prst="rect">
            <a:avLst/>
          </a:prstGeom>
          <a:noFill/>
        </p:spPr>
        <p:txBody>
          <a:bodyPr wrap="square" lIns="0" tIns="0" rIns="0" bIns="0" anchor="ctr">
            <a:spAutoFit/>
          </a:bodyPr>
          <a:lstStyle/>
          <a:p>
            <a:pPr algn="l"/>
            <a:r>
              <a:rPr sz="1550" b="1" i="0">
                <a:solidFill>
                  <a:srgbClr val="14213D"/>
                </a:solidFill>
                <a:latin typeface="Arial"/>
              </a:rPr>
              <a:t>Not a big test set.  </a:t>
            </a:r>
            <a:r>
              <a:rPr sz="1550" b="0" i="0">
                <a:solidFill>
                  <a:srgbClr val="1F2430"/>
                </a:solidFill>
                <a:latin typeface="Arial"/>
              </a:rPr>
              <a:t>100 applicants held out, only 31 labeled likely admitted — minority-class recall carries real sampling uncertainty.</a:t>
            </a:r>
          </a:p>
        </p:txBody>
      </p:sp>
      <p:sp>
        <p:nvSpPr>
          <p:cNvPr id="14" name="Rounded Rectangle 13"/>
          <p:cNvSpPr/>
          <p:nvPr/>
        </p:nvSpPr>
        <p:spPr>
          <a:xfrm>
            <a:off x="640080" y="5394960"/>
            <a:ext cx="10881360" cy="914400"/>
          </a:xfrm>
          <a:prstGeom prst="roundRect">
            <a:avLst>
              <a:gd name="adj" fmla="val 10000"/>
            </a:avLst>
          </a:prstGeom>
          <a:solidFill>
            <a:srgbClr val="F4F5F7"/>
          </a:solidFill>
          <a:ln>
            <a:noFill/>
          </a:ln>
          <a:effectLst/>
        </p:spPr>
        <p:txBody>
          <a:bodyPr rtlCol="0" anchor="ctr"/>
          <a:lstStyle/>
          <a:p>
            <a:pPr algn="ctr"/>
            <a:endParaRPr/>
          </a:p>
        </p:txBody>
      </p:sp>
      <p:sp>
        <p:nvSpPr>
          <p:cNvPr id="15" name="TextBox 14"/>
          <p:cNvSpPr txBox="1"/>
          <p:nvPr/>
        </p:nvSpPr>
        <p:spPr>
          <a:xfrm>
            <a:off x="868680" y="5394960"/>
            <a:ext cx="822960" cy="914400"/>
          </a:xfrm>
          <a:prstGeom prst="rect">
            <a:avLst/>
          </a:prstGeom>
          <a:noFill/>
        </p:spPr>
        <p:txBody>
          <a:bodyPr wrap="square" lIns="0" tIns="0" rIns="0" bIns="0" anchor="ctr">
            <a:spAutoFit/>
          </a:bodyPr>
          <a:lstStyle/>
          <a:p>
            <a:pPr algn="l"/>
            <a:r>
              <a:rPr sz="2600" b="0" i="0">
                <a:solidFill>
                  <a:srgbClr val="1F2430"/>
                </a:solidFill>
                <a:latin typeface="Arial"/>
              </a:rPr>
              <a:t>🚫</a:t>
            </a:r>
          </a:p>
        </p:txBody>
      </p:sp>
      <p:sp>
        <p:nvSpPr>
          <p:cNvPr id="16" name="TextBox 15"/>
          <p:cNvSpPr txBox="1"/>
          <p:nvPr/>
        </p:nvSpPr>
        <p:spPr>
          <a:xfrm>
            <a:off x="1691640" y="5394960"/>
            <a:ext cx="9509760" cy="914400"/>
          </a:xfrm>
          <a:prstGeom prst="rect">
            <a:avLst/>
          </a:prstGeom>
          <a:noFill/>
        </p:spPr>
        <p:txBody>
          <a:bodyPr wrap="square" lIns="0" tIns="0" rIns="0" bIns="0" anchor="ctr">
            <a:spAutoFit/>
          </a:bodyPr>
          <a:lstStyle/>
          <a:p>
            <a:pPr algn="l"/>
            <a:r>
              <a:rPr sz="1550" b="1" i="0">
                <a:solidFill>
                  <a:srgbClr val="14213D"/>
                </a:solidFill>
                <a:latin typeface="Arial"/>
              </a:rPr>
              <a:t>Not causal.  </a:t>
            </a:r>
            <a:r>
              <a:rPr sz="1550" b="0" i="0">
                <a:solidFill>
                  <a:srgbClr val="1F2430"/>
                </a:solidFill>
                <a:latin typeface="Arial"/>
              </a:rPr>
              <a:t>A high predicted probability reflects historical association, not proof that raising a score causes admission.</a:t>
            </a:r>
          </a:p>
        </p:txBody>
      </p:sp>
      <p:sp>
        <p:nvSpPr>
          <p:cNvPr id="17" name="TextBox 16"/>
          <p:cNvSpPr txBox="1"/>
          <p:nvPr/>
        </p:nvSpPr>
        <p:spPr>
          <a:xfrm>
            <a:off x="11274552" y="6355080"/>
            <a:ext cx="548640" cy="320040"/>
          </a:xfrm>
          <a:prstGeom prst="rect">
            <a:avLst/>
          </a:prstGeom>
          <a:noFill/>
        </p:spPr>
        <p:txBody>
          <a:bodyPr wrap="square" lIns="0" tIns="0" rIns="0" bIns="0" anchor="ctr">
            <a:spAutoFit/>
          </a:bodyPr>
          <a:lstStyle/>
          <a:p>
            <a:pPr algn="r"/>
            <a:r>
              <a:rPr sz="1100" b="0" i="0">
                <a:solidFill>
                  <a:srgbClr val="6B7280"/>
                </a:solidFill>
                <a:latin typeface="Arial"/>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val 1"/>
          <p:cNvSpPr/>
          <p:nvPr/>
        </p:nvSpPr>
        <p:spPr>
          <a:xfrm>
            <a:off x="10241280" y="6035040"/>
            <a:ext cx="3840480" cy="3840480"/>
          </a:xfrm>
          <a:prstGeom prst="ellipse">
            <a:avLst/>
          </a:prstGeom>
          <a:solidFill>
            <a:srgbClr val="2EC4B6">
              <a:alpha val="10000"/>
            </a:srgbClr>
          </a:solidFill>
          <a:ln>
            <a:noFill/>
          </a:ln>
          <a:effectLst/>
        </p:spPr>
        <p:txBody>
          <a:bodyPr rtlCol="0" anchor="ctr"/>
          <a:lstStyle/>
          <a:p>
            <a:pPr algn="ctr"/>
            <a:endParaRPr/>
          </a:p>
        </p:txBody>
      </p:sp>
      <p:sp>
        <p:nvSpPr>
          <p:cNvPr id="3" name="TextBox 2"/>
          <p:cNvSpPr txBox="1"/>
          <p:nvPr/>
        </p:nvSpPr>
        <p:spPr>
          <a:xfrm>
            <a:off x="640080" y="502920"/>
            <a:ext cx="8229600" cy="365760"/>
          </a:xfrm>
          <a:prstGeom prst="rect">
            <a:avLst/>
          </a:prstGeom>
          <a:noFill/>
        </p:spPr>
        <p:txBody>
          <a:bodyPr wrap="square" lIns="0" tIns="0" rIns="0" bIns="0" anchor="ctr">
            <a:spAutoFit/>
          </a:bodyPr>
          <a:lstStyle/>
          <a:p>
            <a:pPr algn="l"/>
            <a:r>
              <a:rPr sz="1300" b="1" i="0" spc="200">
                <a:solidFill>
                  <a:srgbClr val="2EC4B6"/>
                </a:solidFill>
                <a:latin typeface="Arial"/>
              </a:rPr>
              <a:t>PUTTING IT TO WORK</a:t>
            </a:r>
          </a:p>
        </p:txBody>
      </p:sp>
      <p:sp>
        <p:nvSpPr>
          <p:cNvPr id="4" name="TextBox 3"/>
          <p:cNvSpPr txBox="1"/>
          <p:nvPr/>
        </p:nvSpPr>
        <p:spPr>
          <a:xfrm>
            <a:off x="594360" y="868680"/>
            <a:ext cx="7772400" cy="1371600"/>
          </a:xfrm>
          <a:prstGeom prst="rect">
            <a:avLst/>
          </a:prstGeom>
          <a:noFill/>
        </p:spPr>
        <p:txBody>
          <a:bodyPr wrap="square" lIns="0" tIns="0" rIns="0" bIns="0" anchor="ctr">
            <a:spAutoFit/>
          </a:bodyPr>
          <a:lstStyle/>
          <a:p>
            <a:pPr algn="l">
              <a:lnSpc>
                <a:spcPct val="105000"/>
              </a:lnSpc>
            </a:pPr>
            <a:r>
              <a:rPr sz="3400" b="1" i="0">
                <a:solidFill>
                  <a:srgbClr val="14213D"/>
                </a:solidFill>
                <a:latin typeface="Arial"/>
              </a:rPr>
              <a:t>A Second Reader,</a:t>
            </a:r>
          </a:p>
          <a:p>
            <a:pPr algn="l">
              <a:lnSpc>
                <a:spcPct val="105000"/>
              </a:lnSpc>
            </a:pPr>
            <a:r>
              <a:rPr sz="3400" b="1" i="0">
                <a:solidFill>
                  <a:srgbClr val="14213D"/>
                </a:solidFill>
                <a:latin typeface="Arial"/>
              </a:rPr>
              <a:t>Not a Verdict.</a:t>
            </a:r>
          </a:p>
        </p:txBody>
      </p:sp>
      <p:sp>
        <p:nvSpPr>
          <p:cNvPr id="5" name="Rounded Rectangle 4"/>
          <p:cNvSpPr/>
          <p:nvPr/>
        </p:nvSpPr>
        <p:spPr>
          <a:xfrm>
            <a:off x="640080" y="2468880"/>
            <a:ext cx="10881360" cy="896112"/>
          </a:xfrm>
          <a:prstGeom prst="roundRect">
            <a:avLst>
              <a:gd name="adj" fmla="val 10204"/>
            </a:avLst>
          </a:prstGeom>
          <a:solidFill>
            <a:srgbClr val="F4F5F7"/>
          </a:solidFill>
          <a:ln>
            <a:noFill/>
          </a:ln>
          <a:effectLst/>
        </p:spPr>
        <p:txBody>
          <a:bodyPr rtlCol="0" anchor="ctr"/>
          <a:lstStyle/>
          <a:p>
            <a:pPr algn="ctr"/>
            <a:endParaRPr/>
          </a:p>
        </p:txBody>
      </p:sp>
      <p:sp>
        <p:nvSpPr>
          <p:cNvPr id="6" name="TextBox 5"/>
          <p:cNvSpPr txBox="1"/>
          <p:nvPr/>
        </p:nvSpPr>
        <p:spPr>
          <a:xfrm>
            <a:off x="868680" y="2468880"/>
            <a:ext cx="822960" cy="896112"/>
          </a:xfrm>
          <a:prstGeom prst="rect">
            <a:avLst/>
          </a:prstGeom>
          <a:noFill/>
        </p:spPr>
        <p:txBody>
          <a:bodyPr wrap="square" lIns="0" tIns="0" rIns="0" bIns="0" anchor="ctr">
            <a:spAutoFit/>
          </a:bodyPr>
          <a:lstStyle/>
          <a:p>
            <a:pPr algn="l"/>
            <a:r>
              <a:rPr sz="2800" b="0" i="0">
                <a:solidFill>
                  <a:srgbClr val="1F2430"/>
                </a:solidFill>
                <a:latin typeface="Arial"/>
              </a:rPr>
              <a:t>🧭</a:t>
            </a:r>
          </a:p>
        </p:txBody>
      </p:sp>
      <p:sp>
        <p:nvSpPr>
          <p:cNvPr id="7" name="TextBox 6"/>
          <p:cNvSpPr txBox="1"/>
          <p:nvPr/>
        </p:nvSpPr>
        <p:spPr>
          <a:xfrm>
            <a:off x="1691640" y="2468880"/>
            <a:ext cx="9509760" cy="896112"/>
          </a:xfrm>
          <a:prstGeom prst="rect">
            <a:avLst/>
          </a:prstGeom>
          <a:noFill/>
        </p:spPr>
        <p:txBody>
          <a:bodyPr wrap="square" lIns="0" tIns="0" rIns="0" bIns="0" anchor="ctr">
            <a:spAutoFit/>
          </a:bodyPr>
          <a:lstStyle/>
          <a:p>
            <a:pPr algn="l"/>
            <a:r>
              <a:rPr sz="1600" b="1" i="0">
                <a:solidFill>
                  <a:srgbClr val="14213D"/>
                </a:solidFill>
                <a:latin typeface="Arial"/>
              </a:rPr>
              <a:t>Screening aid.  </a:t>
            </a:r>
            <a:r>
              <a:rPr sz="1600" b="0" i="0">
                <a:solidFill>
                  <a:srgbClr val="1F2430"/>
                </a:solidFill>
                <a:latin typeface="Arial"/>
              </a:rPr>
              <a:t>Show the predicted probability beside the applicant's CGPA, GRE and TOEFL — never on its own.</a:t>
            </a:r>
          </a:p>
        </p:txBody>
      </p:sp>
      <p:sp>
        <p:nvSpPr>
          <p:cNvPr id="8" name="Rounded Rectangle 7"/>
          <p:cNvSpPr/>
          <p:nvPr/>
        </p:nvSpPr>
        <p:spPr>
          <a:xfrm>
            <a:off x="640080" y="3429000"/>
            <a:ext cx="10881360" cy="896112"/>
          </a:xfrm>
          <a:prstGeom prst="roundRect">
            <a:avLst>
              <a:gd name="adj" fmla="val 10204"/>
            </a:avLst>
          </a:prstGeom>
          <a:solidFill>
            <a:srgbClr val="F4F5F7"/>
          </a:solidFill>
          <a:ln>
            <a:noFill/>
          </a:ln>
          <a:effectLst/>
        </p:spPr>
        <p:txBody>
          <a:bodyPr rtlCol="0" anchor="ctr"/>
          <a:lstStyle/>
          <a:p>
            <a:pPr algn="ctr"/>
            <a:endParaRPr/>
          </a:p>
        </p:txBody>
      </p:sp>
      <p:sp>
        <p:nvSpPr>
          <p:cNvPr id="9" name="TextBox 8"/>
          <p:cNvSpPr txBox="1"/>
          <p:nvPr/>
        </p:nvSpPr>
        <p:spPr>
          <a:xfrm>
            <a:off x="868680" y="3429000"/>
            <a:ext cx="822960" cy="896112"/>
          </a:xfrm>
          <a:prstGeom prst="rect">
            <a:avLst/>
          </a:prstGeom>
          <a:noFill/>
        </p:spPr>
        <p:txBody>
          <a:bodyPr wrap="square" lIns="0" tIns="0" rIns="0" bIns="0" anchor="ctr">
            <a:spAutoFit/>
          </a:bodyPr>
          <a:lstStyle/>
          <a:p>
            <a:pPr algn="l"/>
            <a:r>
              <a:rPr sz="2800" b="0" i="0">
                <a:solidFill>
                  <a:srgbClr val="1F2430"/>
                </a:solidFill>
                <a:latin typeface="Arial"/>
              </a:rPr>
              <a:t>🤝</a:t>
            </a:r>
          </a:p>
        </p:txBody>
      </p:sp>
      <p:sp>
        <p:nvSpPr>
          <p:cNvPr id="10" name="TextBox 9"/>
          <p:cNvSpPr txBox="1"/>
          <p:nvPr/>
        </p:nvSpPr>
        <p:spPr>
          <a:xfrm>
            <a:off x="1691640" y="3429000"/>
            <a:ext cx="9509760" cy="896112"/>
          </a:xfrm>
          <a:prstGeom prst="rect">
            <a:avLst/>
          </a:prstGeom>
          <a:noFill/>
        </p:spPr>
        <p:txBody>
          <a:bodyPr wrap="square" lIns="0" tIns="0" rIns="0" bIns="0" anchor="ctr">
            <a:spAutoFit/>
          </a:bodyPr>
          <a:lstStyle/>
          <a:p>
            <a:pPr algn="l"/>
            <a:r>
              <a:rPr sz="1600" b="1" i="0">
                <a:solidFill>
                  <a:srgbClr val="14213D"/>
                </a:solidFill>
                <a:latin typeface="Arial"/>
              </a:rPr>
              <a:t>Borderline goes to a human.  </a:t>
            </a:r>
            <a:r>
              <a:rPr sz="1600" b="0" i="0">
                <a:solidFill>
                  <a:srgbClr val="1F2430"/>
                </a:solidFill>
                <a:latin typeface="Arial"/>
              </a:rPr>
              <a:t>Predictions near the 0.8 cutoff route to manual review — no auto-accept, no auto-reject.</a:t>
            </a:r>
          </a:p>
        </p:txBody>
      </p:sp>
      <p:sp>
        <p:nvSpPr>
          <p:cNvPr id="11" name="Rounded Rectangle 10"/>
          <p:cNvSpPr/>
          <p:nvPr/>
        </p:nvSpPr>
        <p:spPr>
          <a:xfrm>
            <a:off x="640080" y="4389120"/>
            <a:ext cx="10881360" cy="896112"/>
          </a:xfrm>
          <a:prstGeom prst="roundRect">
            <a:avLst>
              <a:gd name="adj" fmla="val 10204"/>
            </a:avLst>
          </a:prstGeom>
          <a:solidFill>
            <a:srgbClr val="F4F5F7"/>
          </a:solidFill>
          <a:ln>
            <a:noFill/>
          </a:ln>
          <a:effectLst/>
        </p:spPr>
        <p:txBody>
          <a:bodyPr rtlCol="0" anchor="ctr"/>
          <a:lstStyle/>
          <a:p>
            <a:pPr algn="ctr"/>
            <a:endParaRPr/>
          </a:p>
        </p:txBody>
      </p:sp>
      <p:sp>
        <p:nvSpPr>
          <p:cNvPr id="12" name="TextBox 11"/>
          <p:cNvSpPr txBox="1"/>
          <p:nvPr/>
        </p:nvSpPr>
        <p:spPr>
          <a:xfrm>
            <a:off x="868680" y="4389120"/>
            <a:ext cx="822960" cy="896112"/>
          </a:xfrm>
          <a:prstGeom prst="rect">
            <a:avLst/>
          </a:prstGeom>
          <a:noFill/>
        </p:spPr>
        <p:txBody>
          <a:bodyPr wrap="square" lIns="0" tIns="0" rIns="0" bIns="0" anchor="ctr">
            <a:spAutoFit/>
          </a:bodyPr>
          <a:lstStyle/>
          <a:p>
            <a:pPr algn="l"/>
            <a:r>
              <a:rPr sz="2800" b="0" i="0">
                <a:solidFill>
                  <a:srgbClr val="1F2430"/>
                </a:solidFill>
                <a:latin typeface="Arial"/>
              </a:rPr>
              <a:t>📈</a:t>
            </a:r>
          </a:p>
        </p:txBody>
      </p:sp>
      <p:sp>
        <p:nvSpPr>
          <p:cNvPr id="13" name="TextBox 12"/>
          <p:cNvSpPr txBox="1"/>
          <p:nvPr/>
        </p:nvSpPr>
        <p:spPr>
          <a:xfrm>
            <a:off x="1691640" y="4389120"/>
            <a:ext cx="9509760" cy="896112"/>
          </a:xfrm>
          <a:prstGeom prst="rect">
            <a:avLst/>
          </a:prstGeom>
          <a:noFill/>
        </p:spPr>
        <p:txBody>
          <a:bodyPr wrap="square" lIns="0" tIns="0" rIns="0" bIns="0" anchor="ctr">
            <a:spAutoFit/>
          </a:bodyPr>
          <a:lstStyle/>
          <a:p>
            <a:pPr algn="l"/>
            <a:r>
              <a:rPr sz="1600" b="1" i="0">
                <a:solidFill>
                  <a:srgbClr val="14213D"/>
                </a:solidFill>
                <a:latin typeface="Arial"/>
              </a:rPr>
              <a:t>Advising applicants.  </a:t>
            </a:r>
            <a:r>
              <a:rPr sz="1600" b="0" i="0">
                <a:solidFill>
                  <a:srgbClr val="1F2430"/>
                </a:solidFill>
                <a:latin typeface="Arial"/>
              </a:rPr>
              <a:t>Among the six inputs, CGPA, TOEFL and GRE move the predicted outcome most.</a:t>
            </a:r>
          </a:p>
        </p:txBody>
      </p:sp>
      <p:sp>
        <p:nvSpPr>
          <p:cNvPr id="14" name="Rounded Rectangle 13"/>
          <p:cNvSpPr/>
          <p:nvPr/>
        </p:nvSpPr>
        <p:spPr>
          <a:xfrm>
            <a:off x="640080" y="5349240"/>
            <a:ext cx="10881360" cy="896112"/>
          </a:xfrm>
          <a:prstGeom prst="roundRect">
            <a:avLst>
              <a:gd name="adj" fmla="val 10204"/>
            </a:avLst>
          </a:prstGeom>
          <a:solidFill>
            <a:srgbClr val="F4F5F7"/>
          </a:solidFill>
          <a:ln>
            <a:noFill/>
          </a:ln>
          <a:effectLst/>
        </p:spPr>
        <p:txBody>
          <a:bodyPr rtlCol="0" anchor="ctr"/>
          <a:lstStyle/>
          <a:p>
            <a:pPr algn="ctr"/>
            <a:endParaRPr/>
          </a:p>
        </p:txBody>
      </p:sp>
      <p:sp>
        <p:nvSpPr>
          <p:cNvPr id="15" name="TextBox 14"/>
          <p:cNvSpPr txBox="1"/>
          <p:nvPr/>
        </p:nvSpPr>
        <p:spPr>
          <a:xfrm>
            <a:off x="868680" y="5349240"/>
            <a:ext cx="822960" cy="896112"/>
          </a:xfrm>
          <a:prstGeom prst="rect">
            <a:avLst/>
          </a:prstGeom>
          <a:noFill/>
        </p:spPr>
        <p:txBody>
          <a:bodyPr wrap="square" lIns="0" tIns="0" rIns="0" bIns="0" anchor="ctr">
            <a:spAutoFit/>
          </a:bodyPr>
          <a:lstStyle/>
          <a:p>
            <a:pPr algn="l"/>
            <a:r>
              <a:rPr sz="2800" b="0" i="0">
                <a:solidFill>
                  <a:srgbClr val="1F2430"/>
                </a:solidFill>
                <a:latin typeface="Arial"/>
              </a:rPr>
              <a:t>🔗</a:t>
            </a:r>
          </a:p>
        </p:txBody>
      </p:sp>
      <p:sp>
        <p:nvSpPr>
          <p:cNvPr id="16" name="TextBox 15"/>
          <p:cNvSpPr txBox="1"/>
          <p:nvPr/>
        </p:nvSpPr>
        <p:spPr>
          <a:xfrm>
            <a:off x="1691640" y="5349240"/>
            <a:ext cx="9509760" cy="896112"/>
          </a:xfrm>
          <a:prstGeom prst="rect">
            <a:avLst/>
          </a:prstGeom>
          <a:noFill/>
        </p:spPr>
        <p:txBody>
          <a:bodyPr wrap="square" lIns="0" tIns="0" rIns="0" bIns="0" anchor="ctr">
            <a:spAutoFit/>
          </a:bodyPr>
          <a:lstStyle/>
          <a:p>
            <a:pPr algn="l"/>
            <a:r>
              <a:rPr sz="1600" b="1" i="0">
                <a:solidFill>
                  <a:srgbClr val="14213D"/>
                </a:solidFill>
                <a:latin typeface="Arial"/>
              </a:rPr>
              <a:t>Try it yourself.  </a:t>
            </a:r>
            <a:r>
              <a:rPr sz="1600" b="0" i="0">
                <a:solidFill>
                  <a:srgbClr val="1F2430"/>
                </a:solidFill>
                <a:latin typeface="Arial"/>
              </a:rPr>
              <a:t>Live in the Streamlit BI tab — enter a profile, get an instant call.</a:t>
            </a:r>
          </a:p>
        </p:txBody>
      </p:sp>
      <p:sp>
        <p:nvSpPr>
          <p:cNvPr id="17" name="TextBox 16"/>
          <p:cNvSpPr txBox="1"/>
          <p:nvPr/>
        </p:nvSpPr>
        <p:spPr>
          <a:xfrm>
            <a:off x="11274552" y="6355080"/>
            <a:ext cx="548640" cy="320040"/>
          </a:xfrm>
          <a:prstGeom prst="rect">
            <a:avLst/>
          </a:prstGeom>
          <a:noFill/>
        </p:spPr>
        <p:txBody>
          <a:bodyPr wrap="square" lIns="0" tIns="0" rIns="0" bIns="0" anchor="ctr">
            <a:spAutoFit/>
          </a:bodyPr>
          <a:lstStyle/>
          <a:p>
            <a:pPr algn="r"/>
            <a:r>
              <a:rPr sz="1100" b="0" i="0">
                <a:solidFill>
                  <a:srgbClr val="6B7280"/>
                </a:solidFill>
                <a:latin typeface="Arial"/>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1957</Words>
  <Application>Microsoft Macintosh PowerPoint</Application>
  <PresentationFormat>Widescreen</PresentationFormat>
  <Paragraphs>106</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Donghwan Won</cp:lastModifiedBy>
  <cp:revision>1</cp:revision>
  <dcterms:created xsi:type="dcterms:W3CDTF">2013-01-27T09:14:16Z</dcterms:created>
  <dcterms:modified xsi:type="dcterms:W3CDTF">2026-08-07T17:30:56Z</dcterms:modified>
  <cp:category/>
</cp:coreProperties>
</file>